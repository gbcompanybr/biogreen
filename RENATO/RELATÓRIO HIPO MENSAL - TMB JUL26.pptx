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8.jpg" ContentType="image/jpeg"/>
  <Override PartName="/ppt/media/image59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60" r:id="rId5"/>
    <p:sldId id="295" r:id="rId6"/>
    <p:sldId id="329" r:id="rId7"/>
    <p:sldId id="328" r:id="rId8"/>
    <p:sldId id="327" r:id="rId9"/>
    <p:sldId id="326" r:id="rId10"/>
    <p:sldId id="325" r:id="rId11"/>
    <p:sldId id="330" r:id="rId12"/>
    <p:sldId id="324" r:id="rId13"/>
    <p:sldId id="323" r:id="rId14"/>
    <p:sldId id="322" r:id="rId15"/>
    <p:sldId id="321" r:id="rId16"/>
    <p:sldId id="320" r:id="rId17"/>
    <p:sldId id="319" r:id="rId18"/>
    <p:sldId id="318" r:id="rId19"/>
    <p:sldId id="317" r:id="rId20"/>
    <p:sldId id="316" r:id="rId21"/>
    <p:sldId id="315" r:id="rId22"/>
    <p:sldId id="314" r:id="rId23"/>
    <p:sldId id="331" r:id="rId24"/>
    <p:sldId id="332" r:id="rId25"/>
    <p:sldId id="333" r:id="rId26"/>
    <p:sldId id="261" r:id="rId27"/>
    <p:sldId id="270" r:id="rId28"/>
    <p:sldId id="275" r:id="rId29"/>
    <p:sldId id="273" r:id="rId30"/>
    <p:sldId id="264" r:id="rId3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56DE5-A236-4DAD-8FCA-DE67A62D5DA2}" v="6" dt="2025-08-18T11:49:03.0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 varScale="1">
        <p:scale>
          <a:sx n="90" d="100"/>
          <a:sy n="90" d="100"/>
        </p:scale>
        <p:origin x="12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E92C5-89E9-4055-A88A-E15A8A395D44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29DD0-07A1-4B55-B77C-7FB943C1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7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B29DD0-07A1-4B55-B77C-7FB943C1A12C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56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309448"/>
            <a:ext cx="449516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458200" y="0"/>
            <a:ext cx="685800" cy="6858000"/>
          </a:xfrm>
          <a:custGeom>
            <a:avLst/>
            <a:gdLst/>
            <a:ahLst/>
            <a:cxnLst/>
            <a:rect l="l" t="t" r="r" b="b"/>
            <a:pathLst>
              <a:path w="685800" h="6858000">
                <a:moveTo>
                  <a:pt x="685800" y="6172200"/>
                </a:moveTo>
                <a:lnTo>
                  <a:pt x="0" y="6172200"/>
                </a:lnTo>
                <a:lnTo>
                  <a:pt x="0" y="6858000"/>
                </a:lnTo>
                <a:lnTo>
                  <a:pt x="685800" y="6858000"/>
                </a:lnTo>
                <a:lnTo>
                  <a:pt x="685800" y="6172200"/>
                </a:lnTo>
                <a:close/>
              </a:path>
              <a:path w="685800" h="6858000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67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58200" y="5486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A9A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370" y="109550"/>
            <a:ext cx="3476625" cy="9263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801" y="2730245"/>
            <a:ext cx="7084059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E2B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4.jpg"/><Relationship Id="rId7" Type="http://schemas.openxmlformats.org/officeDocument/2006/relationships/image" Target="../media/image64.jpg"/><Relationship Id="rId12" Type="http://schemas.openxmlformats.org/officeDocument/2006/relationships/image" Target="../media/image69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jpg"/><Relationship Id="rId11" Type="http://schemas.openxmlformats.org/officeDocument/2006/relationships/image" Target="../media/image68.jpg"/><Relationship Id="rId5" Type="http://schemas.openxmlformats.org/officeDocument/2006/relationships/image" Target="../media/image62.jpg"/><Relationship Id="rId10" Type="http://schemas.openxmlformats.org/officeDocument/2006/relationships/image" Target="../media/image67.jpg"/><Relationship Id="rId4" Type="http://schemas.openxmlformats.org/officeDocument/2006/relationships/image" Target="../media/image61.jpg"/><Relationship Id="rId9" Type="http://schemas.openxmlformats.org/officeDocument/2006/relationships/image" Target="../media/image6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3041" y="2132838"/>
              <a:ext cx="4119245" cy="2304415"/>
            </a:xfrm>
            <a:custGeom>
              <a:avLst/>
              <a:gdLst/>
              <a:ahLst/>
              <a:cxnLst/>
              <a:rect l="l" t="t" r="r" b="b"/>
              <a:pathLst>
                <a:path w="4119245" h="2304415">
                  <a:moveTo>
                    <a:pt x="4119003" y="0"/>
                  </a:moveTo>
                  <a:lnTo>
                    <a:pt x="0" y="0"/>
                  </a:lnTo>
                  <a:lnTo>
                    <a:pt x="0" y="2304288"/>
                  </a:lnTo>
                  <a:lnTo>
                    <a:pt x="3734955" y="2304288"/>
                  </a:lnTo>
                  <a:lnTo>
                    <a:pt x="4119003" y="1920239"/>
                  </a:lnTo>
                  <a:lnTo>
                    <a:pt x="4119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3041" y="2132838"/>
              <a:ext cx="4119245" cy="2304415"/>
            </a:xfrm>
            <a:custGeom>
              <a:avLst/>
              <a:gdLst/>
              <a:ahLst/>
              <a:cxnLst/>
              <a:rect l="l" t="t" r="r" b="b"/>
              <a:pathLst>
                <a:path w="4119245" h="2304415">
                  <a:moveTo>
                    <a:pt x="4119003" y="0"/>
                  </a:moveTo>
                  <a:lnTo>
                    <a:pt x="4119003" y="1920239"/>
                  </a:lnTo>
                  <a:lnTo>
                    <a:pt x="3734955" y="2304288"/>
                  </a:lnTo>
                  <a:lnTo>
                    <a:pt x="0" y="2304288"/>
                  </a:lnTo>
                  <a:lnTo>
                    <a:pt x="0" y="0"/>
                  </a:lnTo>
                  <a:lnTo>
                    <a:pt x="4119003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7627" y="2132838"/>
              <a:ext cx="3197352" cy="170446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600" y="1683004"/>
            <a:ext cx="8102359" cy="2782813"/>
          </a:xfrm>
          <a:prstGeom prst="rect">
            <a:avLst/>
          </a:prstGeom>
          <a:ln w="254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924560" marR="4047490" indent="-460375">
              <a:lnSpc>
                <a:spcPct val="100000"/>
              </a:lnSpc>
            </a:pPr>
            <a:r>
              <a:rPr sz="1800" b="1" spc="-25" dirty="0">
                <a:solidFill>
                  <a:srgbClr val="08761D"/>
                </a:solidFill>
                <a:latin typeface="Calibri"/>
                <a:cs typeface="Calibri"/>
              </a:rPr>
              <a:t>RELATÓRIO</a:t>
            </a:r>
            <a:r>
              <a:rPr sz="1800" b="1" spc="-15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8761D"/>
                </a:solidFill>
                <a:latin typeface="Calibri"/>
                <a:cs typeface="Calibri"/>
              </a:rPr>
              <a:t>ACOMPANHAMENTO</a:t>
            </a:r>
            <a:r>
              <a:rPr lang="pt-BR" sz="1800" b="1" spc="-20" dirty="0">
                <a:solidFill>
                  <a:srgbClr val="08761D"/>
                </a:solidFill>
                <a:latin typeface="Calibri"/>
                <a:cs typeface="Calibri"/>
              </a:rPr>
              <a:t> TMB </a:t>
            </a:r>
            <a:r>
              <a:rPr sz="1800" b="1" spc="-20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8761D"/>
                </a:solidFill>
                <a:latin typeface="Calibri"/>
                <a:cs typeface="Calibri"/>
              </a:rPr>
              <a:t>HIPOCLORITO</a:t>
            </a:r>
            <a:r>
              <a:rPr sz="1800" b="1" spc="-25" dirty="0">
                <a:solidFill>
                  <a:srgbClr val="0876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8761D"/>
                </a:solidFill>
                <a:latin typeface="Calibri"/>
                <a:cs typeface="Calibri"/>
              </a:rPr>
              <a:t>–</a:t>
            </a:r>
            <a:r>
              <a:rPr lang="pt-BR" sz="1800" b="1" dirty="0">
                <a:solidFill>
                  <a:srgbClr val="08761D"/>
                </a:solidFill>
                <a:latin typeface="Calibri"/>
                <a:cs typeface="Calibri"/>
              </a:rPr>
              <a:t> JUL/2026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2225" y="19284"/>
            <a:ext cx="2080689" cy="10404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5155" y="1044016"/>
            <a:ext cx="751522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3045" algn="just">
              <a:lnSpc>
                <a:spcPct val="100000"/>
              </a:lnSpc>
              <a:spcBef>
                <a:spcPts val="100"/>
              </a:spcBef>
              <a:buClr>
                <a:srgbClr val="92D050"/>
              </a:buClr>
              <a:buSzPct val="95833"/>
              <a:buFont typeface="Wingdings"/>
              <a:buChar char=""/>
              <a:tabLst>
                <a:tab pos="241300" algn="l"/>
                <a:tab pos="251460" algn="l"/>
              </a:tabLst>
            </a:pPr>
            <a:r>
              <a:rPr sz="2400" dirty="0">
                <a:solidFill>
                  <a:srgbClr val="92D050"/>
                </a:solidFill>
                <a:latin typeface="Calibri"/>
                <a:cs typeface="Calibri"/>
              </a:rPr>
              <a:t>	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Biogreen</a:t>
            </a:r>
            <a:r>
              <a:rPr sz="2400" b="1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Chemicals,</a:t>
            </a:r>
            <a:r>
              <a:rPr sz="2400" b="1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empresa</a:t>
            </a:r>
            <a:r>
              <a:rPr sz="2400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Brasileira</a:t>
            </a:r>
            <a:r>
              <a:rPr sz="2400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que</a:t>
            </a:r>
            <a:r>
              <a:rPr sz="2400" spc="5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mais</a:t>
            </a:r>
            <a:r>
              <a:rPr sz="2400" spc="5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de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uma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década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atua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na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América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Sul,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América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Norte,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Ásia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Europa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com</a:t>
            </a:r>
            <a:r>
              <a:rPr sz="2400" spc="-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suas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sedes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em</a:t>
            </a:r>
            <a:r>
              <a:rPr sz="24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São</a:t>
            </a:r>
            <a:r>
              <a:rPr sz="24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Paulo</a:t>
            </a:r>
            <a:r>
              <a:rPr sz="2400" spc="-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Paris.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155" y="4410202"/>
            <a:ext cx="7515859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33045" algn="just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41300" algn="l"/>
                <a:tab pos="251460" algn="l"/>
              </a:tabLst>
            </a:pPr>
            <a:r>
              <a:rPr sz="2400" dirty="0">
                <a:solidFill>
                  <a:srgbClr val="92D050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Atendendo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o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mercado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nacional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400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internacional</a:t>
            </a:r>
            <a:r>
              <a:rPr sz="2400" spc="395" dirty="0">
                <a:solidFill>
                  <a:srgbClr val="2E2B1F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de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celulose</a:t>
            </a:r>
            <a:r>
              <a:rPr sz="2400" b="1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b="1" spc="5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papel</a:t>
            </a:r>
            <a:r>
              <a:rPr sz="2400" b="1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com</a:t>
            </a:r>
            <a:r>
              <a:rPr sz="2400" spc="5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desenvolvidas</a:t>
            </a:r>
            <a:r>
              <a:rPr sz="2400" spc="5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5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seu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processo,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utiliza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2400" spc="3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mais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alta</a:t>
            </a:r>
            <a:r>
              <a:rPr sz="2400" spc="3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tecnologia</a:t>
            </a:r>
            <a:r>
              <a:rPr sz="2400" spc="33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3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desenvolver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24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garantindo</a:t>
            </a:r>
            <a:r>
              <a:rPr sz="2400" spc="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estabilidade</a:t>
            </a:r>
            <a:r>
              <a:rPr sz="24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24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rentabilidade</a:t>
            </a:r>
            <a:r>
              <a:rPr sz="24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24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E2B1F"/>
                </a:solidFill>
                <a:latin typeface="Calibri"/>
                <a:cs typeface="Calibri"/>
              </a:rPr>
              <a:t>sua </a:t>
            </a:r>
            <a:r>
              <a:rPr sz="2400" spc="-10" dirty="0">
                <a:solidFill>
                  <a:srgbClr val="2E2B1F"/>
                </a:solidFill>
                <a:latin typeface="Calibri"/>
                <a:cs typeface="Calibri"/>
              </a:rPr>
              <a:t>operação.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0" dirty="0"/>
              <a:t>Posição</a:t>
            </a:r>
            <a:r>
              <a:rPr spc="-190" dirty="0"/>
              <a:t> </a:t>
            </a:r>
            <a:r>
              <a:rPr spc="-65" dirty="0"/>
              <a:t>Global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4667" y="2222055"/>
            <a:ext cx="823480" cy="57765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315591" y="2348864"/>
            <a:ext cx="3964940" cy="1911985"/>
            <a:chOff x="2315591" y="2348864"/>
            <a:chExt cx="3964940" cy="191198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5591" y="2348864"/>
              <a:ext cx="3964939" cy="19116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9901" y="3730193"/>
              <a:ext cx="166827" cy="2474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7757" y="3057220"/>
              <a:ext cx="166827" cy="2474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7992" y="2740355"/>
              <a:ext cx="166827" cy="2474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80125" y="3164154"/>
              <a:ext cx="166827" cy="2474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9863" y="3924630"/>
              <a:ext cx="166827" cy="2474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4870" y="2492832"/>
              <a:ext cx="166827" cy="2474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8447" y="3510356"/>
              <a:ext cx="166827" cy="2474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41115" y="2962605"/>
              <a:ext cx="166827" cy="2474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963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Soluções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6158" y="1148276"/>
            <a:ext cx="2191385" cy="15811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795"/>
              </a:spcBef>
            </a:pPr>
            <a:r>
              <a:rPr sz="2400" b="1" spc="-10" dirty="0">
                <a:solidFill>
                  <a:srgbClr val="6C5224"/>
                </a:solidFill>
                <a:latin typeface="Calibri"/>
                <a:cs typeface="Calibri"/>
              </a:rPr>
              <a:t>CELULOSE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Auxiliar</a:t>
            </a:r>
            <a:r>
              <a:rPr sz="1700" b="1" spc="-4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de</a:t>
            </a:r>
            <a:r>
              <a:rPr sz="1700" b="1" spc="-5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cozimento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Desencrustantes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Licor</a:t>
            </a:r>
            <a:r>
              <a:rPr sz="1700" b="1" spc="-4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Sintético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6C5224"/>
                </a:solidFill>
                <a:latin typeface="Calibri"/>
                <a:cs typeface="Calibri"/>
              </a:rPr>
              <a:t>Ácido</a:t>
            </a:r>
            <a:r>
              <a:rPr sz="1700" b="1" spc="-20" dirty="0">
                <a:solidFill>
                  <a:srgbClr val="6C5224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6C5224"/>
                </a:solidFill>
                <a:latin typeface="Calibri"/>
                <a:cs typeface="Calibri"/>
              </a:rPr>
              <a:t>Sulfâmico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6015" y="2112218"/>
            <a:ext cx="2205990" cy="134429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869"/>
              </a:spcBef>
            </a:pPr>
            <a:r>
              <a:rPr sz="1500" b="1" spc="-10" dirty="0">
                <a:solidFill>
                  <a:srgbClr val="C00000"/>
                </a:solidFill>
                <a:latin typeface="Calibri"/>
                <a:cs typeface="Calibri"/>
              </a:rPr>
              <a:t>EMBALAGENS</a:t>
            </a:r>
            <a:r>
              <a:rPr sz="15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sz="1500" b="1" spc="-10" dirty="0">
                <a:solidFill>
                  <a:srgbClr val="C00000"/>
                </a:solidFill>
                <a:latin typeface="Calibri"/>
                <a:cs typeface="Calibri"/>
              </a:rPr>
              <a:t>CARTÃO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9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RS</a:t>
            </a:r>
            <a:r>
              <a:rPr sz="19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–</a:t>
            </a:r>
            <a:r>
              <a:rPr sz="19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pvam</a:t>
            </a:r>
            <a:r>
              <a:rPr sz="19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sz="19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C00000"/>
                </a:solidFill>
                <a:latin typeface="Calibri"/>
                <a:cs typeface="Calibri"/>
              </a:rPr>
              <a:t>e-gpam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spc="-10" dirty="0">
                <a:solidFill>
                  <a:srgbClr val="C00000"/>
                </a:solidFill>
                <a:latin typeface="Calibri"/>
                <a:cs typeface="Calibri"/>
              </a:rPr>
              <a:t>Barreiras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900" spc="-10" dirty="0">
                <a:solidFill>
                  <a:srgbClr val="C00000"/>
                </a:solidFill>
                <a:latin typeface="Calibri"/>
                <a:cs typeface="Calibri"/>
              </a:rPr>
              <a:t>Polímeros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367" y="1361634"/>
            <a:ext cx="2209800" cy="13379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52755">
              <a:lnSpc>
                <a:spcPct val="100000"/>
              </a:lnSpc>
              <a:spcBef>
                <a:spcPts val="875"/>
              </a:spcBef>
            </a:pP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PAPEL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5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dirty="0">
                <a:solidFill>
                  <a:srgbClr val="00AF50"/>
                </a:solidFill>
                <a:latin typeface="Calibri"/>
                <a:cs typeface="Calibri"/>
              </a:rPr>
              <a:t>Auxiliar</a:t>
            </a:r>
            <a:r>
              <a:rPr sz="17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17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00AF50"/>
                </a:solidFill>
                <a:latin typeface="Calibri"/>
                <a:cs typeface="Calibri"/>
              </a:rPr>
              <a:t>resistência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20" dirty="0">
                <a:solidFill>
                  <a:srgbClr val="00AF50"/>
                </a:solidFill>
                <a:latin typeface="Calibri"/>
                <a:cs typeface="Calibri"/>
              </a:rPr>
              <a:t>Cola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700" b="1" spc="-10" dirty="0">
                <a:solidFill>
                  <a:srgbClr val="00AF50"/>
                </a:solidFill>
                <a:latin typeface="Calibri"/>
                <a:cs typeface="Calibri"/>
              </a:rPr>
              <a:t>Amidos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182" y="4470574"/>
            <a:ext cx="1978025" cy="193738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553720">
              <a:lnSpc>
                <a:spcPct val="100000"/>
              </a:lnSpc>
              <a:spcBef>
                <a:spcPts val="1500"/>
              </a:spcBef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ÁGUAS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7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Polímeros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Nutrientes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1300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Antiespumantes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Coagulantes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9385" y="4138676"/>
            <a:ext cx="4692015" cy="22205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Resistência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Seco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(Auxiliar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processo);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Coagulantes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 &amp;</a:t>
            </a:r>
            <a:r>
              <a:rPr sz="1200" b="1" spc="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Floculantes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Retenção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 e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Drenagem;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Biocidas;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Amidos</a:t>
            </a:r>
            <a:r>
              <a:rPr sz="1200" b="1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Modificados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,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Oxidados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Hidrolisados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Auxiliar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cozimento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(aumento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rendimento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produção)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Controle</a:t>
            </a:r>
            <a:r>
              <a:rPr sz="1200" b="1" spc="-4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metais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extrativos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Novos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Antiespumantes,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auxiliar 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drenagem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(</a:t>
            </a:r>
            <a:r>
              <a:rPr sz="12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livre</a:t>
            </a:r>
            <a:r>
              <a:rPr sz="1200" b="1" u="sng" spc="-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de</a:t>
            </a:r>
            <a:r>
              <a:rPr sz="12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silicone/PDMS</a:t>
            </a:r>
            <a:r>
              <a:rPr sz="1200" b="1" u="none" spc="-10" dirty="0">
                <a:solidFill>
                  <a:srgbClr val="2E2B1F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Ácido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Sulfâmico,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soluções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lavagem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acida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alcalina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Sulfato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Sódio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85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Cepas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bactérias</a:t>
            </a:r>
            <a:r>
              <a:rPr sz="12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para</a:t>
            </a:r>
            <a:r>
              <a:rPr sz="1200" b="1" spc="-2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200" b="1" spc="-1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semeadura</a:t>
            </a:r>
            <a:r>
              <a:rPr sz="12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200" b="1" spc="-10" dirty="0">
                <a:solidFill>
                  <a:srgbClr val="2E2B1F"/>
                </a:solidFill>
                <a:latin typeface="Calibri"/>
                <a:cs typeface="Calibri"/>
              </a:rPr>
              <a:t> lagoas.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52215" y="3511042"/>
            <a:ext cx="1918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...e</a:t>
            </a:r>
            <a:r>
              <a:rPr sz="2400" b="1" spc="-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2B1F"/>
                </a:solidFill>
                <a:latin typeface="Calibri"/>
                <a:cs typeface="Calibri"/>
              </a:rPr>
              <a:t>além</a:t>
            </a:r>
            <a:r>
              <a:rPr sz="2400" b="1" spc="-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E2B1F"/>
                </a:solidFill>
                <a:latin typeface="Calibri"/>
                <a:cs typeface="Calibri"/>
              </a:rPr>
              <a:t>disso: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6283" y="3046401"/>
            <a:ext cx="2481580" cy="1103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405"/>
              </a:spcBef>
            </a:pPr>
            <a:r>
              <a:rPr sz="2400" b="1" spc="-10" dirty="0">
                <a:solidFill>
                  <a:srgbClr val="456867"/>
                </a:solidFill>
                <a:latin typeface="Calibri"/>
                <a:cs typeface="Calibri"/>
              </a:rPr>
              <a:t>TISSUE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Amido</a:t>
            </a:r>
            <a:r>
              <a:rPr sz="2000" b="1" spc="10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456867"/>
                </a:solidFill>
                <a:latin typeface="Calibri"/>
                <a:cs typeface="Calibri"/>
              </a:rPr>
              <a:t>pre-</a:t>
            </a:r>
            <a:r>
              <a:rPr sz="2000" b="1" spc="-25" dirty="0">
                <a:solidFill>
                  <a:srgbClr val="456867"/>
                </a:solidFill>
                <a:latin typeface="Calibri"/>
                <a:cs typeface="Calibri"/>
              </a:rPr>
              <a:t>gel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40"/>
              </a:spcBef>
              <a:buClr>
                <a:srgbClr val="92D050"/>
              </a:buClr>
              <a:buFont typeface="Wingdings"/>
              <a:buChar char=""/>
              <a:tabLst>
                <a:tab pos="240665" algn="l"/>
              </a:tabLst>
            </a:pP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Auxiliar</a:t>
            </a:r>
            <a:r>
              <a:rPr sz="2000" b="1" spc="-35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56867"/>
                </a:solidFill>
                <a:latin typeface="Calibri"/>
                <a:cs typeface="Calibri"/>
              </a:rPr>
              <a:t>de</a:t>
            </a:r>
            <a:r>
              <a:rPr sz="2000" b="1" spc="-30" dirty="0">
                <a:solidFill>
                  <a:srgbClr val="456867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56867"/>
                </a:solidFill>
                <a:latin typeface="Calibri"/>
                <a:cs typeface="Calibri"/>
              </a:rPr>
              <a:t>processos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9033" y="1284109"/>
            <a:ext cx="1074102" cy="61695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8898" y="3069145"/>
            <a:ext cx="743661" cy="7063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7178" y="997826"/>
            <a:ext cx="777557" cy="7181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8416" y="3140303"/>
            <a:ext cx="1184351" cy="77510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00707" y="4851920"/>
            <a:ext cx="916406" cy="8648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1669" y="19294"/>
            <a:ext cx="2210703" cy="11054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1943" y="1457325"/>
            <a:ext cx="3445510" cy="163512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Características</a:t>
            </a:r>
            <a:r>
              <a:rPr sz="1600" b="1" u="sng" spc="-1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12700" marR="87630">
              <a:lnSpc>
                <a:spcPct val="110000"/>
              </a:lnSpc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NOME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COMERCIAL: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Hipoclorito</a:t>
            </a:r>
            <a:r>
              <a:rPr sz="1600" spc="-5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spc="-6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sódio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FORMULA</a:t>
            </a:r>
            <a:r>
              <a:rPr sz="1600" spc="-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QUIMICA:</a:t>
            </a:r>
            <a:r>
              <a:rPr sz="1600" spc="-7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NaClO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PESO</a:t>
            </a:r>
            <a:r>
              <a:rPr sz="1600" spc="-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MOLECULAR:</a:t>
            </a:r>
            <a:r>
              <a:rPr sz="1600" spc="-6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74,5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u="sng" spc="-1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Aplicação</a:t>
            </a:r>
            <a:r>
              <a:rPr sz="1600" b="1" u="sng" spc="-2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e</a:t>
            </a:r>
            <a:r>
              <a:rPr sz="1600" b="1" u="sng" spc="-3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dosagem</a:t>
            </a:r>
            <a:r>
              <a:rPr sz="1600" b="1" u="sng" spc="-25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2E2B1F"/>
                </a:solidFill>
                <a:uFill>
                  <a:solidFill>
                    <a:srgbClr val="2E2B1F"/>
                  </a:solidFill>
                </a:uFill>
                <a:latin typeface="Calibri"/>
                <a:cs typeface="Calibri"/>
              </a:rPr>
              <a:t>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  <a:tabLst>
                <a:tab pos="746760" algn="l"/>
                <a:tab pos="1544320" algn="l"/>
                <a:tab pos="2546985" algn="l"/>
              </a:tabLst>
            </a:pP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Líquido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límpido,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levemente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amarelado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6794" y="2823210"/>
            <a:ext cx="37992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2570" algn="l"/>
                <a:tab pos="579120" algn="l"/>
                <a:tab pos="1103630" algn="l"/>
                <a:tab pos="2332355" algn="l"/>
                <a:tab pos="2915920" algn="l"/>
                <a:tab pos="3254375" algn="l"/>
              </a:tabLst>
            </a:pPr>
            <a:r>
              <a:rPr sz="1600" spc="-50" dirty="0">
                <a:solidFill>
                  <a:srgbClr val="2E2B1F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odor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característico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0" dirty="0">
                <a:solidFill>
                  <a:srgbClr val="2E2B1F"/>
                </a:solidFill>
                <a:latin typeface="Calibri"/>
                <a:cs typeface="Calibri"/>
              </a:rPr>
              <a:t>(odor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	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cloro);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737" y="3042666"/>
            <a:ext cx="7346950" cy="7092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just">
              <a:lnSpc>
                <a:spcPct val="90300"/>
              </a:lnSpc>
              <a:spcBef>
                <a:spcPts val="280"/>
              </a:spcBef>
            </a:pP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Propriedades</a:t>
            </a:r>
            <a:r>
              <a:rPr sz="1600" spc="4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oxidantes,</a:t>
            </a:r>
            <a:r>
              <a:rPr sz="1600" spc="434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por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isso</a:t>
            </a:r>
            <a:r>
              <a:rPr sz="1600" spc="45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é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instável;</a:t>
            </a:r>
            <a:r>
              <a:rPr sz="1600" spc="44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Produto</a:t>
            </a:r>
            <a:r>
              <a:rPr sz="1600" spc="43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termo-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instável,</a:t>
            </a:r>
            <a:r>
              <a:rPr sz="1600" spc="42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decomposição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acelerada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a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partir</a:t>
            </a:r>
            <a:r>
              <a:rPr sz="16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40°</a:t>
            </a:r>
            <a:r>
              <a:rPr sz="1600" spc="8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C;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Densidade: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Mínimo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1,200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g/cm3;</a:t>
            </a:r>
            <a:r>
              <a:rPr sz="1600" spc="9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pH</a:t>
            </a:r>
            <a:r>
              <a:rPr sz="1600" spc="8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em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solução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5%:</a:t>
            </a:r>
            <a:r>
              <a:rPr sz="1600" spc="100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E2B1F"/>
                </a:solidFill>
                <a:latin typeface="Calibri"/>
                <a:cs typeface="Calibri"/>
              </a:rPr>
              <a:t>9,0</a:t>
            </a:r>
            <a:r>
              <a:rPr sz="1600" spc="95" dirty="0">
                <a:solidFill>
                  <a:srgbClr val="2E2B1F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2E2B1F"/>
                </a:solidFill>
                <a:latin typeface="Calibri"/>
                <a:cs typeface="Calibri"/>
              </a:rPr>
              <a:t>– </a:t>
            </a:r>
            <a:r>
              <a:rPr sz="1600" spc="-10" dirty="0">
                <a:solidFill>
                  <a:srgbClr val="2E2B1F"/>
                </a:solidFill>
                <a:latin typeface="Calibri"/>
                <a:cs typeface="Calibri"/>
              </a:rPr>
              <a:t>12,0.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4217" y="3971417"/>
            <a:ext cx="7007860" cy="2520562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just"/>
            <a:r>
              <a:rPr lang="pt-BR" sz="1600" dirty="0"/>
              <a:t>Após o início da gestão em 11/08/2025, os dados coletados de residual de cloro e </a:t>
            </a:r>
            <a:r>
              <a:rPr lang="pt-BR" sz="1600" dirty="0" err="1"/>
              <a:t>ph</a:t>
            </a:r>
            <a:r>
              <a:rPr lang="pt-BR" sz="1600" dirty="0"/>
              <a:t> apresentaram-se dentro dos parâmetros esperados, porém a turbidez tem apresentado um valor elevado.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Conforme estabelecido no plano de manutenção preventiva, todas as inspeções e análises operacionais são executadas diariamente durante as visitas técnicas. Essa prática permite um acompanhamento sistemático dos parâmetros críticos dos equipamentos, garantindo maior precisão na detecção de falhas potenciais e contribuindo diretamente para a confiabilidade e disponibilidade dos ativos</a:t>
            </a:r>
            <a:r>
              <a:rPr lang="pt-BR" sz="1200" dirty="0"/>
              <a:t>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309448"/>
            <a:ext cx="1977389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Produto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06/07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6655B89-D9E0-465B-7F3C-0ED40B08A3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47050" y="2054939"/>
            <a:ext cx="5334000" cy="40005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75C9B17-4F20-E292-C318-577F1F466E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350" y="205493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6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AC0937A-09A1-C3EE-7F55-5F1E1F953F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0600" y="2052755"/>
            <a:ext cx="5332800" cy="39996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A0FD388-675E-65A2-553E-B128B89C94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53778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61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08/07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55B1974-7C39-9796-4136-6785716B4D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0600" y="2042452"/>
            <a:ext cx="5332800" cy="39996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93DB646F-4985-2FCB-2663-8376714224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0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09/07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70DDCFD-9537-715F-8EB5-2C1095AED0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68240" y="2053356"/>
            <a:ext cx="5332800" cy="39996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9337900-C45F-3A7C-5030-F7F4BD883F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38000" y="2053356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83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ED223519-7B83-0254-E200-919FD726CE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76800" y="2059385"/>
            <a:ext cx="5332800" cy="39996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CF62E837-8C97-6660-01D2-9F9CC0889B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438000" y="2059385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13/07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6AF8667F-21BA-E076-30B9-68ECF5A390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8973" y="2038200"/>
            <a:ext cx="5332800" cy="3999600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994F4764-B5A9-765F-7C74-9A7E840E77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61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13/07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3351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>
                <a:solidFill>
                  <a:srgbClr val="2E2B1F"/>
                </a:solidFill>
                <a:latin typeface="Arial"/>
                <a:cs typeface="Arial"/>
              </a:rPr>
              <a:t>Recebimento dos novos equipamentos de tratamento da água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6F6DE3-4250-AC19-86C7-50A8CDF02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0" r="31639"/>
          <a:stretch/>
        </p:blipFill>
        <p:spPr>
          <a:xfrm rot="5400000">
            <a:off x="2911275" y="2939008"/>
            <a:ext cx="2483250" cy="5257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949C064-4821-54D6-E3ED-20A28DA41E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88687"/>
            <a:ext cx="5257800" cy="28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57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15/07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816F14F6-1E24-A01A-CE9F-D9D658168D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0600" y="2038200"/>
            <a:ext cx="5332800" cy="399960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C4113BA3-91DA-DDB0-D70B-BC35B95715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90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16/07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93FF5596-B51F-C56A-70FC-D06903B56F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25907" y="2038199"/>
            <a:ext cx="5332800" cy="3999600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1D3CDFA6-2FFD-C15E-C580-42A039C389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85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17/07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A1946DA6-F41E-F62A-1C5A-2F6E2E6895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0600" y="2038199"/>
            <a:ext cx="5332800" cy="3999600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7FF93096-AD5B-52DB-1505-D470C6988D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3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2843E909-6CB0-3640-9ECE-8A7CFD0860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0600" y="2038200"/>
            <a:ext cx="5332800" cy="399960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823B089D-BDB4-CC71-0E46-079FCBFF34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25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21/07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ED79C58F-45D1-FA16-AAAF-F163ACA5B1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84707" y="2038199"/>
            <a:ext cx="5332800" cy="3999600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47DC1658-F342-95C2-23D7-9469F2DB64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38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23/07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58" name="Imagem 57">
            <a:extLst>
              <a:ext uri="{FF2B5EF4-FFF2-40B4-BE49-F238E27FC236}">
                <a16:creationId xmlns:a16="http://schemas.microsoft.com/office/drawing/2014/main" id="{0CD75E5B-FF53-DAD2-CCBC-FACDE9F181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25907" y="2038199"/>
            <a:ext cx="5332800" cy="399960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16F9A3E4-859F-253C-37C9-0B77AC2379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530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24/07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2" name="Imagem 61">
            <a:extLst>
              <a:ext uri="{FF2B5EF4-FFF2-40B4-BE49-F238E27FC236}">
                <a16:creationId xmlns:a16="http://schemas.microsoft.com/office/drawing/2014/main" id="{4D98A59A-AEB2-0B4C-5CB9-121B1D0CEE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34373" y="2038199"/>
            <a:ext cx="5332800" cy="3999600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2E8E053B-861B-1628-5C27-140D91326E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75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27/07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6" name="Imagem 65">
            <a:extLst>
              <a:ext uri="{FF2B5EF4-FFF2-40B4-BE49-F238E27FC236}">
                <a16:creationId xmlns:a16="http://schemas.microsoft.com/office/drawing/2014/main" id="{AF71B54B-656E-5102-AA42-E367A2E015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96357" y="2038200"/>
            <a:ext cx="5332800" cy="3999600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23D2A4BB-46AA-82A8-4175-4C367C6852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53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29/07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0" name="Imagem 69">
            <a:extLst>
              <a:ext uri="{FF2B5EF4-FFF2-40B4-BE49-F238E27FC236}">
                <a16:creationId xmlns:a16="http://schemas.microsoft.com/office/drawing/2014/main" id="{23812C20-EAD5-EFA2-39D3-D6B155DCD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17440" y="2080250"/>
            <a:ext cx="5332800" cy="3999600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3825E4D3-AE33-3185-8598-E1E90E797F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8025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4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30/07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4" name="Imagem 73">
            <a:extLst>
              <a:ext uri="{FF2B5EF4-FFF2-40B4-BE49-F238E27FC236}">
                <a16:creationId xmlns:a16="http://schemas.microsoft.com/office/drawing/2014/main" id="{CA55134D-4886-6C77-B948-CC7EDD6D3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0600" y="2038199"/>
            <a:ext cx="5332800" cy="3999600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4BC35368-B497-A5BA-00D3-8EEA1C543B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79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Evidências dia 31/07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Registros em imagens de residuais coletados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8" name="Imagem 77">
            <a:extLst>
              <a:ext uri="{FF2B5EF4-FFF2-40B4-BE49-F238E27FC236}">
                <a16:creationId xmlns:a16="http://schemas.microsoft.com/office/drawing/2014/main" id="{5489F769-1328-7803-B930-6A35581445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17440" y="2042452"/>
            <a:ext cx="5332800" cy="3999600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1CA07658-A605-0364-A9D8-7A364C2FF4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14200" y="2038200"/>
            <a:ext cx="5332800" cy="39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01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Informações da Área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>
                <a:solidFill>
                  <a:srgbClr val="2E2B1F"/>
                </a:solidFill>
                <a:latin typeface="Arial"/>
                <a:cs typeface="Arial"/>
              </a:rPr>
              <a:t>Descrição dos eventos ocorridos no mês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99D92F6-769D-EAB6-43A9-66A9DD33BE58}"/>
              </a:ext>
            </a:extLst>
          </p:cNvPr>
          <p:cNvSpPr txBox="1"/>
          <p:nvPr/>
        </p:nvSpPr>
        <p:spPr>
          <a:xfrm>
            <a:off x="533400" y="1828800"/>
            <a:ext cx="7391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Desvios de residual de cloro livre: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Foram registrados 8 dias de desvios onde realizamos o acompanhamento. Após a ocorrência dos dias 30/06 e 01/07, realizamos neste período uma adequação de dosagem de cloro minuciosa estudando cada cenário conforme sua particularidade, comprovada pelo restante do mês que apresentam resultados estáveis.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Desvios de turbidez: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Os valores de turbidez no período 06/07 a 23/07 não estão corretos devido a falha do equipamento de medição do mesmo. Para evitar ocorrência semelhante passamos a efetuar a calibração do equipamento semanalmente, antes realizada a cada 30 dias. </a:t>
            </a:r>
          </a:p>
        </p:txBody>
      </p:sp>
    </p:spTree>
    <p:extLst>
      <p:ext uri="{BB962C8B-B14F-4D97-AF65-F5344CB8AC3E}">
        <p14:creationId xmlns:p14="http://schemas.microsoft.com/office/powerpoint/2010/main" val="1117285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Informações da Área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>
                <a:solidFill>
                  <a:srgbClr val="2E2B1F"/>
                </a:solidFill>
                <a:latin typeface="Arial"/>
                <a:cs typeface="Arial"/>
              </a:rPr>
              <a:t>Descrição dos eventos ocorridos no mês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99D92F6-769D-EAB6-43A9-66A9DD33BE58}"/>
              </a:ext>
            </a:extLst>
          </p:cNvPr>
          <p:cNvSpPr txBox="1"/>
          <p:nvPr/>
        </p:nvSpPr>
        <p:spPr>
          <a:xfrm>
            <a:off x="533400" y="1435119"/>
            <a:ext cx="7391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Instalação dos novos equipamentos:</a:t>
            </a:r>
          </a:p>
          <a:p>
            <a:pPr algn="just"/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Disponibilidade – Todos os equipamentos já foram entregues e estão aguardando instalação.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Locais de instalação – Juntamente com a equipe de manutenção da </a:t>
            </a:r>
            <a:r>
              <a:rPr lang="pt-BR" sz="1600" dirty="0" err="1"/>
              <a:t>Andritz</a:t>
            </a:r>
            <a:r>
              <a:rPr lang="pt-BR" sz="1600" dirty="0"/>
              <a:t> foram definidos os espaços para realizar a instalação.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Fator que impede a instalação  - A área definida para instalação do filtro externo e o equipamento de dosagem atualmente não está adequada por 2 motivos: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600" dirty="0"/>
              <a:t>Manutenção da válvula geral de segurança da </a:t>
            </a:r>
            <a:r>
              <a:rPr lang="pt-BR" sz="1600" dirty="0" err="1"/>
              <a:t>Eta</a:t>
            </a:r>
            <a:r>
              <a:rPr lang="pt-BR" sz="1600" dirty="0"/>
              <a:t> que está inoperante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1600" dirty="0"/>
              <a:t>Piso irregular</a:t>
            </a:r>
          </a:p>
          <a:p>
            <a:pPr marL="342900" indent="-342900" algn="just">
              <a:buFont typeface="+mj-lt"/>
              <a:buAutoNum type="arabicPeriod"/>
            </a:pPr>
            <a:endParaRPr lang="pt-BR" sz="1600" dirty="0"/>
          </a:p>
          <a:p>
            <a:pPr algn="just"/>
            <a:r>
              <a:rPr lang="pt-BR" sz="1600" dirty="0"/>
              <a:t>Necessário realizar o quanto antes a manutenção da válvula pois a área precisa adequar o piso, o que dificultará mais ainda a manutenção no futuro.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Consequência: Atualmente toda manutenção hidráulica realizada na unidade, o colaborador fica exposto a jatos d'água fortes e incontroláveis.</a:t>
            </a:r>
          </a:p>
          <a:p>
            <a:pPr algn="just"/>
            <a:r>
              <a:rPr lang="pt-BR" sz="1600" dirty="0"/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4206347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61E07-7D2B-23B2-CF96-9454D7165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550"/>
            <a:ext cx="2213040" cy="110347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459D98A-9F97-5A98-FB68-EF5BA69E03EF}"/>
              </a:ext>
            </a:extLst>
          </p:cNvPr>
          <p:cNvSpPr txBox="1">
            <a:spLocks/>
          </p:cNvSpPr>
          <p:nvPr/>
        </p:nvSpPr>
        <p:spPr>
          <a:xfrm>
            <a:off x="294250" y="297780"/>
            <a:ext cx="6019800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pt-BR" dirty="0"/>
              <a:t>Visita não realizada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24B0D8-C8BF-F2FF-93CE-39111B01A1D0}"/>
              </a:ext>
            </a:extLst>
          </p:cNvPr>
          <p:cNvSpPr txBox="1"/>
          <p:nvPr/>
        </p:nvSpPr>
        <p:spPr>
          <a:xfrm>
            <a:off x="294250" y="1005666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dirty="0">
                <a:solidFill>
                  <a:srgbClr val="2E2B1F"/>
                </a:solidFill>
                <a:latin typeface="Arial"/>
                <a:cs typeface="Arial"/>
              </a:rPr>
              <a:t>Data e descrição de justificativas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E9D4E9-F085-39FB-B6BC-646784657ABF}"/>
              </a:ext>
            </a:extLst>
          </p:cNvPr>
          <p:cNvSpPr txBox="1"/>
          <p:nvPr/>
        </p:nvSpPr>
        <p:spPr>
          <a:xfrm>
            <a:off x="381000" y="1600200"/>
            <a:ext cx="76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02/07 – Feriado (Independência da Bahia)</a:t>
            </a:r>
          </a:p>
          <a:p>
            <a:pPr algn="just"/>
            <a:r>
              <a:rPr lang="pt-BR" sz="1600" dirty="0"/>
              <a:t>03/07 – Ponte Veracel (confecção de relatórios)</a:t>
            </a:r>
          </a:p>
          <a:p>
            <a:pPr algn="just"/>
            <a:r>
              <a:rPr lang="pt-BR" sz="1600" dirty="0"/>
              <a:t>14/07 – Emergência pessoal</a:t>
            </a:r>
          </a:p>
          <a:p>
            <a:pPr algn="just"/>
            <a:r>
              <a:rPr lang="pt-BR" sz="1600" dirty="0"/>
              <a:t>22/07 – Visita </a:t>
            </a:r>
            <a:r>
              <a:rPr lang="pt-BR" sz="1600" dirty="0" err="1"/>
              <a:t>Nucleo</a:t>
            </a:r>
            <a:r>
              <a:rPr lang="pt-BR" sz="1600" dirty="0"/>
              <a:t> Florestal e manutenção sede </a:t>
            </a:r>
            <a:r>
              <a:rPr lang="pt-BR" sz="1600" dirty="0" err="1"/>
              <a:t>Biogreen</a:t>
            </a:r>
            <a:endParaRPr lang="pt-BR" sz="1600" dirty="0"/>
          </a:p>
          <a:p>
            <a:pPr algn="just"/>
            <a:r>
              <a:rPr lang="pt-BR" sz="1600" dirty="0"/>
              <a:t>28/07 – Coleta de químicos Fabrica Veracel</a:t>
            </a:r>
          </a:p>
        </p:txBody>
      </p:sp>
    </p:spTree>
    <p:extLst>
      <p:ext uri="{BB962C8B-B14F-4D97-AF65-F5344CB8AC3E}">
        <p14:creationId xmlns:p14="http://schemas.microsoft.com/office/powerpoint/2010/main" val="2237334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200" y="33226"/>
            <a:ext cx="2058303" cy="8792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04800" y="76200"/>
            <a:ext cx="4876800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Dados</a:t>
            </a:r>
            <a:r>
              <a:rPr spc="-180" dirty="0"/>
              <a:t> </a:t>
            </a:r>
            <a:r>
              <a:rPr spc="-55" dirty="0"/>
              <a:t>do</a:t>
            </a:r>
            <a:r>
              <a:rPr spc="-175" dirty="0"/>
              <a:t> </a:t>
            </a:r>
            <a:r>
              <a:rPr spc="-90" dirty="0"/>
              <a:t>processo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600" y="796270"/>
            <a:ext cx="6219063" cy="289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 err="1">
                <a:solidFill>
                  <a:srgbClr val="2E2B1F"/>
                </a:solidFill>
                <a:latin typeface="Arial"/>
                <a:cs typeface="Arial"/>
              </a:rPr>
              <a:t>h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urbidez, na </a:t>
            </a:r>
            <a:r>
              <a:rPr lang="pt-BR" b="1" spc="-15" dirty="0" err="1">
                <a:solidFill>
                  <a:srgbClr val="2E2B1F"/>
                </a:solidFill>
                <a:latin typeface="Arial"/>
                <a:cs typeface="Arial"/>
              </a:rPr>
              <a:t>E</a:t>
            </a:r>
            <a:r>
              <a:rPr lang="pt-BR" sz="1800" b="1" spc="-15" dirty="0" err="1">
                <a:solidFill>
                  <a:srgbClr val="2E2B1F"/>
                </a:solidFill>
                <a:latin typeface="Arial"/>
                <a:cs typeface="Arial"/>
              </a:rPr>
              <a:t>ta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 Tmb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44EA3B-8BB6-2977-BBE0-575AED7BD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77106"/>
            <a:ext cx="4174200" cy="27828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4A2FD8-A25B-62F7-361B-544C27BA77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400" y="1179344"/>
            <a:ext cx="4174200" cy="2782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7087902-9A3F-6AD0-9F03-1FE9ACF234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79344"/>
            <a:ext cx="4174200" cy="2782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90A9D550-AAB6-05AE-8E7D-FEEEAE1E588F}"/>
              </a:ext>
            </a:extLst>
          </p:cNvPr>
          <p:cNvSpPr txBox="1">
            <a:spLocks/>
          </p:cNvSpPr>
          <p:nvPr/>
        </p:nvSpPr>
        <p:spPr>
          <a:xfrm>
            <a:off x="304800" y="76200"/>
            <a:ext cx="4876800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600" b="0" i="0">
                <a:solidFill>
                  <a:srgbClr val="675E46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pc="-95" dirty="0"/>
              <a:t>Dados</a:t>
            </a:r>
            <a:r>
              <a:rPr lang="pt-BR" spc="-180" dirty="0"/>
              <a:t> </a:t>
            </a:r>
            <a:r>
              <a:rPr lang="pt-BR" spc="-55" dirty="0"/>
              <a:t>do</a:t>
            </a:r>
            <a:r>
              <a:rPr lang="pt-BR" spc="-175" dirty="0"/>
              <a:t> </a:t>
            </a:r>
            <a:r>
              <a:rPr lang="pt-BR" spc="-90" dirty="0"/>
              <a:t>processo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8F9899C-842C-B619-C0AC-F013ED30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76200"/>
            <a:ext cx="2054530" cy="883997"/>
          </a:xfrm>
          <a:prstGeom prst="rect">
            <a:avLst/>
          </a:prstGeom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D199A125-59D8-C2DB-5C31-1827CD4A4153}"/>
              </a:ext>
            </a:extLst>
          </p:cNvPr>
          <p:cNvSpPr txBox="1"/>
          <p:nvPr/>
        </p:nvSpPr>
        <p:spPr>
          <a:xfrm>
            <a:off x="228600" y="796270"/>
            <a:ext cx="647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Dados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residuais</a:t>
            </a:r>
            <a:r>
              <a:rPr sz="1800" spc="-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25" dirty="0">
                <a:solidFill>
                  <a:srgbClr val="2E2B1F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2E2B1F"/>
                </a:solidFill>
                <a:latin typeface="Arial"/>
                <a:cs typeface="Arial"/>
              </a:rPr>
              <a:t>loro</a:t>
            </a:r>
            <a:r>
              <a:rPr lang="pt-BR" sz="1800" dirty="0">
                <a:solidFill>
                  <a:srgbClr val="2E2B1F"/>
                </a:solidFill>
                <a:latin typeface="Arial"/>
                <a:cs typeface="Arial"/>
              </a:rPr>
              <a:t>,</a:t>
            </a:r>
            <a:r>
              <a:rPr sz="1800" spc="-15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P</a:t>
            </a:r>
            <a:r>
              <a:rPr lang="pt-BR" sz="1800" spc="-15" dirty="0" err="1">
                <a:solidFill>
                  <a:srgbClr val="2E2B1F"/>
                </a:solidFill>
                <a:latin typeface="Arial"/>
                <a:cs typeface="Arial"/>
              </a:rPr>
              <a:t>h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</a:t>
            </a:r>
            <a:r>
              <a:rPr lang="pt-BR" sz="1800" spc="-15" dirty="0">
                <a:solidFill>
                  <a:srgbClr val="2E2B1F"/>
                </a:solidFill>
                <a:latin typeface="Arial"/>
                <a:cs typeface="Arial"/>
              </a:rPr>
              <a:t>urbidez</a:t>
            </a:r>
            <a:r>
              <a:rPr lang="pt-BR" sz="1800" b="1" spc="-15" dirty="0">
                <a:solidFill>
                  <a:srgbClr val="2E2B1F"/>
                </a:solidFill>
                <a:latin typeface="Arial"/>
                <a:cs typeface="Arial"/>
              </a:rPr>
              <a:t>, </a:t>
            </a:r>
            <a:r>
              <a:rPr lang="pt-BR" b="1" spc="-15" dirty="0">
                <a:solidFill>
                  <a:srgbClr val="2E2B1F"/>
                </a:solidFill>
                <a:latin typeface="Arial"/>
                <a:cs typeface="Arial"/>
              </a:rPr>
              <a:t>Refeitório 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Tmb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F4A68F-8A4C-6282-E7EA-73254A590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90533"/>
            <a:ext cx="4174200" cy="2782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849EA8F-0DF9-4876-D045-2C7E668EF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400" y="1167104"/>
            <a:ext cx="4174200" cy="2782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92EC76E-EA30-D720-DF39-63AEFDEF03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167104"/>
            <a:ext cx="4174200" cy="27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65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06BE0-A0B2-85FA-D824-41A50284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52311"/>
            <a:ext cx="5562600" cy="1415772"/>
          </a:xfrm>
        </p:spPr>
        <p:txBody>
          <a:bodyPr/>
          <a:lstStyle/>
          <a:p>
            <a:r>
              <a:rPr lang="pt-BR" dirty="0"/>
              <a:t>VISITA TMB VERACEL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F7B08E1-9688-26EF-F33A-ECB791AB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76200"/>
            <a:ext cx="2054530" cy="883997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491391EC-DFA0-1F57-395F-33AE8A0AF2BD}"/>
              </a:ext>
            </a:extLst>
          </p:cNvPr>
          <p:cNvSpPr txBox="1"/>
          <p:nvPr/>
        </p:nvSpPr>
        <p:spPr>
          <a:xfrm>
            <a:off x="304800" y="935937"/>
            <a:ext cx="6477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15" dirty="0" err="1">
                <a:solidFill>
                  <a:srgbClr val="2E2B1F"/>
                </a:solidFill>
                <a:latin typeface="Arial"/>
                <a:cs typeface="Arial"/>
              </a:rPr>
              <a:t>Biogreen</a:t>
            </a:r>
            <a:r>
              <a:rPr lang="pt-BR" spc="-15" dirty="0">
                <a:solidFill>
                  <a:srgbClr val="2E2B1F"/>
                </a:solidFill>
                <a:latin typeface="Arial"/>
                <a:cs typeface="Arial"/>
              </a:rPr>
              <a:t> plano de atuação No TMB Veracel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BBBD11-771D-F45D-FF2C-6D4D39C499DC}"/>
              </a:ext>
            </a:extLst>
          </p:cNvPr>
          <p:cNvSpPr txBox="1"/>
          <p:nvPr/>
        </p:nvSpPr>
        <p:spPr>
          <a:xfrm>
            <a:off x="228600" y="1491325"/>
            <a:ext cx="807433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A equipe Biogreen' tem realizado visitas técnicas diárias ao TMB Veracel, com foco no plano de controle da água potável da unidade.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Durante essas visitas, estamos monitorando os seguintes parâmetros: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Cloro residual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pH da água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Turbidez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Consumo via hidrômetros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Além do monitoramento, foram executadas as seguintes ações corretivas e preventivas: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Checagem dos decantadores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Retro lavagem do filtro de areia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Limpeza da sala de aplicação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Programação de drenagem e lavagem de reservatórios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Acompanhamento ETE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Todos os dados e ações estão sendo registrados e acompanhados através de uma planilha de controle específica, garantindo rastreabilidade e conformidade com os padrões de qualidade exigidos.</a:t>
            </a:r>
          </a:p>
        </p:txBody>
      </p:sp>
    </p:spTree>
    <p:extLst>
      <p:ext uri="{BB962C8B-B14F-4D97-AF65-F5344CB8AC3E}">
        <p14:creationId xmlns:p14="http://schemas.microsoft.com/office/powerpoint/2010/main" val="2304011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9B3BF-F508-2FF3-21BB-66A20A8A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50" y="0"/>
            <a:ext cx="4143960" cy="1077218"/>
          </a:xfrm>
        </p:spPr>
        <p:txBody>
          <a:bodyPr/>
          <a:lstStyle/>
          <a:p>
            <a:r>
              <a:rPr lang="pt-BR" dirty="0"/>
              <a:t>Conclusão</a:t>
            </a:r>
            <a:br>
              <a:rPr lang="pt-BR" dirty="0"/>
            </a:br>
            <a:r>
              <a:rPr lang="pt-BR" sz="2400" dirty="0"/>
              <a:t>Controle de Qualidade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DE04E1-39C7-F0CC-49F4-1B6EB9151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0" y="1349524"/>
            <a:ext cx="3338778" cy="4924425"/>
          </a:xfrm>
        </p:spPr>
        <p:txBody>
          <a:bodyPr/>
          <a:lstStyle/>
          <a:p>
            <a:r>
              <a:rPr lang="pt-BR" sz="1600" dirty="0"/>
              <a:t>O Biohipo 33 , fornecido pela Biogreen’ para a unidade Veracel, passa por um rigoroso controle de qualidade. São realizados diversos testes em laboratório, acompanhados pela equipe de controle de qualidade da Biogreen', sob a supervisão da líder, a senhora Caroline Larissa. Esses testes são realizados no laboratório central da Biogreen', localizado em Suzano, São Paulo. </a:t>
            </a:r>
          </a:p>
          <a:p>
            <a:r>
              <a:rPr lang="pt-BR" sz="1600" dirty="0"/>
              <a:t>Com isso, nossos resultados com o  Biohipo 33 aplicado na ETA na unidade Veracel tem demostrado bons resultados. </a:t>
            </a:r>
          </a:p>
          <a:p>
            <a:r>
              <a:rPr lang="pt-BR" sz="1600" dirty="0"/>
              <a:t>Agradecemos pela oportunidade de colaborar no desenvolvimento desse projeto de controle de tratamento de agua potável  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D8BCABD8-92D7-62EE-6015-6EEB3DA325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9485" y="125835"/>
            <a:ext cx="2210703" cy="1105417"/>
          </a:xfrm>
          <a:prstGeom prst="rect">
            <a:avLst/>
          </a:prstGeom>
        </p:spPr>
      </p:pic>
      <p:pic>
        <p:nvPicPr>
          <p:cNvPr id="6" name="Imagem 5" descr="Uma imagem contendo quarto de hospital, homem, mesa, óculos&#10;&#10;O conteúdo gerado por IA pode estar incorreto.">
            <a:extLst>
              <a:ext uri="{FF2B5EF4-FFF2-40B4-BE49-F238E27FC236}">
                <a16:creationId xmlns:a16="http://schemas.microsoft.com/office/drawing/2014/main" id="{D69DECDA-2A0D-3BE6-FD24-61990A24E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1" y="1349524"/>
            <a:ext cx="4068660" cy="2758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 descr="Garrafa de vidro&#10;&#10;O conteúdo gerado por IA pode estar incorreto.">
            <a:extLst>
              <a:ext uri="{FF2B5EF4-FFF2-40B4-BE49-F238E27FC236}">
                <a16:creationId xmlns:a16="http://schemas.microsoft.com/office/drawing/2014/main" id="{C3B84347-B026-D894-4B5F-2038461897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0" y="4291303"/>
            <a:ext cx="4068660" cy="21908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35521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86782" y="2667254"/>
            <a:ext cx="11557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20"/>
              </a:lnSpc>
            </a:pPr>
            <a:r>
              <a:rPr sz="3600" spc="-60" dirty="0">
                <a:solidFill>
                  <a:srgbClr val="EBEBEB"/>
                </a:solidFill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2"/>
            <a:ext cx="9144000" cy="684606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26333" y="2573477"/>
            <a:ext cx="2531110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570230" marR="5080" indent="-558165">
              <a:lnSpc>
                <a:spcPts val="3890"/>
              </a:lnSpc>
              <a:spcBef>
                <a:spcPts val="590"/>
              </a:spcBef>
            </a:pPr>
            <a:r>
              <a:rPr sz="3600" b="1" i="1" dirty="0">
                <a:latin typeface="Calibri"/>
                <a:cs typeface="Calibri"/>
              </a:rPr>
              <a:t>Merci</a:t>
            </a:r>
            <a:r>
              <a:rPr sz="3600" b="1" i="1" spc="-25" dirty="0">
                <a:latin typeface="Calibri"/>
                <a:cs typeface="Calibri"/>
              </a:rPr>
              <a:t> </a:t>
            </a:r>
            <a:r>
              <a:rPr sz="3600" b="1" i="1" spc="-10" dirty="0">
                <a:latin typeface="Calibri"/>
                <a:cs typeface="Calibri"/>
              </a:rPr>
              <a:t>d'avoir écouté.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1321" y="4055186"/>
            <a:ext cx="19602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10" dirty="0">
                <a:latin typeface="Calibri"/>
                <a:cs typeface="Calibri"/>
              </a:rPr>
              <a:t>Obrigado!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97179" y="580390"/>
            <a:ext cx="7712075" cy="5995035"/>
            <a:chOff x="697179" y="580390"/>
            <a:chExt cx="7712075" cy="59950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599" y="580410"/>
              <a:ext cx="2820050" cy="14101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9289" y="6155639"/>
              <a:ext cx="628929" cy="41929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9563" y="6181458"/>
              <a:ext cx="818070" cy="3272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8251" y="6181458"/>
              <a:ext cx="375894" cy="3515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5060" y="6155652"/>
              <a:ext cx="628929" cy="3773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63368" y="6157760"/>
              <a:ext cx="856970" cy="3237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3964" y="580390"/>
              <a:ext cx="4124705" cy="14102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27951" y="6157772"/>
              <a:ext cx="787615" cy="3134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4140" y="6230391"/>
              <a:ext cx="1038860" cy="1596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7179" y="6237312"/>
              <a:ext cx="459854" cy="1806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32576</TotalTime>
  <Words>1082</Words>
  <Application>Microsoft Office PowerPoint</Application>
  <PresentationFormat>Apresentação na tela (4:3)</PresentationFormat>
  <Paragraphs>152</Paragraphs>
  <Slides>30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7" baseType="lpstr">
      <vt:lpstr>Aptos</vt:lpstr>
      <vt:lpstr>Arial</vt:lpstr>
      <vt:lpstr>Calibri</vt:lpstr>
      <vt:lpstr>Cambria</vt:lpstr>
      <vt:lpstr>Times New Roman</vt:lpstr>
      <vt:lpstr>Wingdings</vt:lpstr>
      <vt:lpstr>Office Theme</vt:lpstr>
      <vt:lpstr>        RELATÓRIO ACOMPANHAMENTO TMB  HIPOCLORITO – JUL/2026</vt:lpstr>
      <vt:lpstr>Posição Global</vt:lpstr>
      <vt:lpstr>Soluções</vt:lpstr>
      <vt:lpstr>Produto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Dados do processo</vt:lpstr>
      <vt:lpstr>Apresentação do PowerPoint</vt:lpstr>
      <vt:lpstr>VISITA TMB VERACEL</vt:lpstr>
      <vt:lpstr>Conclusão Controle de Qualidade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Biofort G25 - Scott Bond AAA 180 g</dc:title>
  <dc:creator>Renato</dc:creator>
  <cp:lastModifiedBy>User</cp:lastModifiedBy>
  <cp:revision>29</cp:revision>
  <dcterms:created xsi:type="dcterms:W3CDTF">2024-12-26T15:41:27Z</dcterms:created>
  <dcterms:modified xsi:type="dcterms:W3CDTF">2026-08-10T17:35:03Z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2024-12-26T00:00:00Z</vt:filetime>
  </property>
  <property fmtid="{D5CDD505-2E9C-101B-9397-08002B2CF9AE}" pid="5" name="Producer">
    <vt:lpwstr>Microsoft® PowerPoint® para Microsoft 365</vt:lpwstr>
  </property>
</Properties>
</file>