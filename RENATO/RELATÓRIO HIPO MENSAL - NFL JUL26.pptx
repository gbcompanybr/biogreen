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98.jpg" ContentType="image/jpeg"/>
  <Override PartName="/ppt/media/image99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330" r:id="rId6"/>
    <p:sldId id="295" r:id="rId7"/>
    <p:sldId id="329" r:id="rId8"/>
    <p:sldId id="328" r:id="rId9"/>
    <p:sldId id="327" r:id="rId10"/>
    <p:sldId id="326" r:id="rId11"/>
    <p:sldId id="325" r:id="rId12"/>
    <p:sldId id="324" r:id="rId13"/>
    <p:sldId id="323" r:id="rId14"/>
    <p:sldId id="322" r:id="rId15"/>
    <p:sldId id="321" r:id="rId16"/>
    <p:sldId id="320" r:id="rId17"/>
    <p:sldId id="319" r:id="rId18"/>
    <p:sldId id="318" r:id="rId19"/>
    <p:sldId id="317" r:id="rId20"/>
    <p:sldId id="316" r:id="rId21"/>
    <p:sldId id="315" r:id="rId22"/>
    <p:sldId id="314" r:id="rId23"/>
    <p:sldId id="331" r:id="rId24"/>
    <p:sldId id="261" r:id="rId25"/>
    <p:sldId id="270" r:id="rId26"/>
    <p:sldId id="262" r:id="rId27"/>
    <p:sldId id="263" r:id="rId28"/>
    <p:sldId id="276" r:id="rId29"/>
    <p:sldId id="273" r:id="rId30"/>
    <p:sldId id="264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A1D7A-6403-47C6-B4A0-21C9C553B7EE}" v="13" dt="2025-09-02T18:20:28.3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9" autoAdjust="0"/>
    <p:restoredTop sz="94802" autoAdjust="0"/>
  </p:normalViewPr>
  <p:slideViewPr>
    <p:cSldViewPr>
      <p:cViewPr varScale="1">
        <p:scale>
          <a:sx n="90" d="100"/>
          <a:sy n="90" d="100"/>
        </p:scale>
        <p:origin x="124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E92C5-89E9-4055-A88A-E15A8A395D44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29DD0-07A1-4B55-B77C-7FB943C1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7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9DD0-07A1-4B55-B77C-7FB943C1A12C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56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309448"/>
            <a:ext cx="449516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70" y="109550"/>
            <a:ext cx="3476625" cy="926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801" y="2730245"/>
            <a:ext cx="7084059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g"/><Relationship Id="rId3" Type="http://schemas.openxmlformats.org/officeDocument/2006/relationships/image" Target="../media/image4.jpg"/><Relationship Id="rId7" Type="http://schemas.openxmlformats.org/officeDocument/2006/relationships/image" Target="../media/image104.jpg"/><Relationship Id="rId12" Type="http://schemas.openxmlformats.org/officeDocument/2006/relationships/image" Target="../media/image109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jpg"/><Relationship Id="rId11" Type="http://schemas.openxmlformats.org/officeDocument/2006/relationships/image" Target="../media/image108.jpg"/><Relationship Id="rId5" Type="http://schemas.openxmlformats.org/officeDocument/2006/relationships/image" Target="../media/image102.jpg"/><Relationship Id="rId10" Type="http://schemas.openxmlformats.org/officeDocument/2006/relationships/image" Target="../media/image107.jpg"/><Relationship Id="rId4" Type="http://schemas.openxmlformats.org/officeDocument/2006/relationships/image" Target="../media/image101.jpg"/><Relationship Id="rId9" Type="http://schemas.openxmlformats.org/officeDocument/2006/relationships/image" Target="../media/image10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0" y="0"/>
                  </a:lnTo>
                  <a:lnTo>
                    <a:pt x="0" y="2304288"/>
                  </a:lnTo>
                  <a:lnTo>
                    <a:pt x="3734955" y="2304288"/>
                  </a:lnTo>
                  <a:lnTo>
                    <a:pt x="4119003" y="1920239"/>
                  </a:lnTo>
                  <a:lnTo>
                    <a:pt x="4119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4119003" y="1920239"/>
                  </a:lnTo>
                  <a:lnTo>
                    <a:pt x="3734955" y="2304288"/>
                  </a:lnTo>
                  <a:lnTo>
                    <a:pt x="0" y="2304288"/>
                  </a:lnTo>
                  <a:lnTo>
                    <a:pt x="0" y="0"/>
                  </a:lnTo>
                  <a:lnTo>
                    <a:pt x="4119003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7" y="2132838"/>
              <a:ext cx="3197352" cy="170446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7200" y="1683004"/>
            <a:ext cx="8534400" cy="2782813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24560" marR="4047490" indent="-460375">
              <a:lnSpc>
                <a:spcPct val="100000"/>
              </a:lnSpc>
            </a:pP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RELATÓRIO</a:t>
            </a:r>
            <a:r>
              <a:rPr sz="1800" b="1" spc="-1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ACOMPANHAMENTO</a:t>
            </a:r>
            <a:r>
              <a:rPr lang="pt-BR" sz="1800" b="1" spc="-20" dirty="0">
                <a:solidFill>
                  <a:srgbClr val="08761D"/>
                </a:solidFill>
                <a:latin typeface="Calibri"/>
                <a:cs typeface="Calibri"/>
              </a:rPr>
              <a:t> VIVEIRO 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8761D"/>
                </a:solidFill>
                <a:latin typeface="Calibri"/>
                <a:cs typeface="Calibri"/>
              </a:rPr>
              <a:t>HIPOCLORITO</a:t>
            </a: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8761D"/>
                </a:solidFill>
                <a:latin typeface="Calibri"/>
                <a:cs typeface="Calibri"/>
              </a:rPr>
              <a:t>–</a:t>
            </a:r>
            <a:r>
              <a:rPr lang="pt-BR" sz="1800" b="1" dirty="0">
                <a:solidFill>
                  <a:srgbClr val="08761D"/>
                </a:solidFill>
                <a:latin typeface="Calibri"/>
                <a:cs typeface="Calibri"/>
              </a:rPr>
              <a:t> JUL/2026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5" y="19284"/>
            <a:ext cx="2080689" cy="10404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155" y="1044016"/>
            <a:ext cx="75152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Clr>
                <a:srgbClr val="92D050"/>
              </a:buClr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Biogreen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Chemicals,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empresa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Brasileira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que</a:t>
            </a:r>
            <a:r>
              <a:rPr sz="2400" spc="5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uma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década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atua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Sul,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Norte,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Ásia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Europa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suas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sedes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24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São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Paulo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Paris.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155" y="4410202"/>
            <a:ext cx="751585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Atendendo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mercado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nacional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internacional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celulose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papel</a:t>
            </a:r>
            <a:r>
              <a:rPr sz="2400" b="1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desenvolvidas</a:t>
            </a:r>
            <a:r>
              <a:rPr sz="2400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seu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processo,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utiliza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alta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tecnologia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desenvolver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garantindo</a:t>
            </a:r>
            <a:r>
              <a:rPr sz="2400" spc="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estabilidade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rentabilidade</a:t>
            </a:r>
            <a:r>
              <a:rPr sz="24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sua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operação.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Posição</a:t>
            </a:r>
            <a:r>
              <a:rPr spc="-190" dirty="0"/>
              <a:t> </a:t>
            </a:r>
            <a:r>
              <a:rPr spc="-65" dirty="0"/>
              <a:t>Global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4667" y="2222055"/>
            <a:ext cx="823480" cy="5776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15591" y="2348864"/>
            <a:ext cx="3964940" cy="1911985"/>
            <a:chOff x="2315591" y="2348864"/>
            <a:chExt cx="3964940" cy="19119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5591" y="2348864"/>
              <a:ext cx="3964939" cy="19116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9901" y="3730193"/>
              <a:ext cx="166827" cy="2474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757" y="3057220"/>
              <a:ext cx="166827" cy="2474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7992" y="2740355"/>
              <a:ext cx="166827" cy="2474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0125" y="3164154"/>
              <a:ext cx="166827" cy="2474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9863" y="3924630"/>
              <a:ext cx="166827" cy="2474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4870" y="2492832"/>
              <a:ext cx="166827" cy="2474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8447" y="3510356"/>
              <a:ext cx="166827" cy="2474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1115" y="2962605"/>
              <a:ext cx="166827" cy="2474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963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Soluções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6158" y="1148276"/>
            <a:ext cx="2191385" cy="15811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795"/>
              </a:spcBef>
            </a:pPr>
            <a:r>
              <a:rPr sz="2400" b="1" spc="-10" dirty="0">
                <a:solidFill>
                  <a:srgbClr val="6C5224"/>
                </a:solidFill>
                <a:latin typeface="Calibri"/>
                <a:cs typeface="Calibri"/>
              </a:rPr>
              <a:t>CELULOSE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Auxiliar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de</a:t>
            </a:r>
            <a:r>
              <a:rPr sz="1700" b="1" spc="-5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cozimento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Desencrustantes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Licor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Sintético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Ácido</a:t>
            </a:r>
            <a:r>
              <a:rPr sz="1700" b="1" spc="-2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Sulfâmico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6015" y="2112218"/>
            <a:ext cx="2205990" cy="13442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869"/>
              </a:spcBef>
            </a:pP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EMBALAGENS</a:t>
            </a:r>
            <a:r>
              <a:rPr sz="15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CARTÃO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9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RS</a:t>
            </a:r>
            <a:r>
              <a:rPr sz="19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pvam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e-gpam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Barreiras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Polímeros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367" y="1361634"/>
            <a:ext cx="2209800" cy="13379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875"/>
              </a:spcBef>
            </a:pP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PAPEL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5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Auxiliar</a:t>
            </a:r>
            <a:r>
              <a:rPr sz="17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resistência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Cola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Amidos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182" y="4470574"/>
            <a:ext cx="1978025" cy="19373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553720">
              <a:lnSpc>
                <a:spcPct val="100000"/>
              </a:lnSpc>
              <a:spcBef>
                <a:spcPts val="1500"/>
              </a:spcBef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ÁGUAS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7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Polímeros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Nutrientes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1300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Antiespumantes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Coagulantes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9385" y="4138676"/>
            <a:ext cx="4692015" cy="22205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Resistência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Seco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(Auxiliar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processo);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Coagulantes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&amp;</a:t>
            </a:r>
            <a:r>
              <a:rPr sz="1200" b="1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Floculantes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Retenção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Drenagem;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Biocidas;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Amidos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Modificados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Oxidados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Hidrolisados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cozimento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rendimento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produção)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Controle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metais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extrativos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Novos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Antiespumantes,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 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drenagem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livre</a:t>
            </a:r>
            <a:r>
              <a:rPr sz="1200" b="1" u="sng" spc="-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de</a:t>
            </a:r>
            <a:r>
              <a:rPr sz="12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silicone/PDMS</a:t>
            </a:r>
            <a:r>
              <a:rPr sz="1200" b="1" u="none" spc="-10" dirty="0">
                <a:solidFill>
                  <a:srgbClr val="2E2B1F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Ácido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Sulfâmico,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lavagem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acida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alcalina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Sulfato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Sódio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Cepas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bactérias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semeadura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lagoas.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2215" y="3511042"/>
            <a:ext cx="1918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...e</a:t>
            </a:r>
            <a:r>
              <a:rPr sz="24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além</a:t>
            </a:r>
            <a:r>
              <a:rPr sz="24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E2B1F"/>
                </a:solidFill>
                <a:latin typeface="Calibri"/>
                <a:cs typeface="Calibri"/>
              </a:rPr>
              <a:t>disso: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83" y="3046401"/>
            <a:ext cx="2481580" cy="1103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405"/>
              </a:spcBef>
            </a:pPr>
            <a:r>
              <a:rPr sz="2400" b="1" spc="-10" dirty="0">
                <a:solidFill>
                  <a:srgbClr val="456867"/>
                </a:solidFill>
                <a:latin typeface="Calibri"/>
                <a:cs typeface="Calibri"/>
              </a:rPr>
              <a:t>TISSUE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Amido</a:t>
            </a:r>
            <a:r>
              <a:rPr sz="2000" b="1" spc="1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56867"/>
                </a:solidFill>
                <a:latin typeface="Calibri"/>
                <a:cs typeface="Calibri"/>
              </a:rPr>
              <a:t>pre-</a:t>
            </a:r>
            <a:r>
              <a:rPr sz="2000" b="1" spc="-25" dirty="0">
                <a:solidFill>
                  <a:srgbClr val="456867"/>
                </a:solidFill>
                <a:latin typeface="Calibri"/>
                <a:cs typeface="Calibri"/>
              </a:rPr>
              <a:t>gel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Auxiliar</a:t>
            </a:r>
            <a:r>
              <a:rPr sz="2000" b="1" spc="-35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de</a:t>
            </a:r>
            <a:r>
              <a:rPr sz="2000" b="1" spc="-3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56867"/>
                </a:solidFill>
                <a:latin typeface="Calibri"/>
                <a:cs typeface="Calibri"/>
              </a:rPr>
              <a:t>processos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9033" y="1284109"/>
            <a:ext cx="1074102" cy="6169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8898" y="3069145"/>
            <a:ext cx="743661" cy="7063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178" y="997826"/>
            <a:ext cx="777557" cy="7181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8416" y="3140303"/>
            <a:ext cx="1184351" cy="77510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00707" y="4851920"/>
            <a:ext cx="916406" cy="864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6737" y="1456715"/>
            <a:ext cx="3445510" cy="16351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Características</a:t>
            </a:r>
            <a:r>
              <a:rPr sz="1600" b="1" u="sng" spc="-1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 marR="87630">
              <a:lnSpc>
                <a:spcPct val="110000"/>
              </a:lnSpc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NOME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COMERCIAL: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Hipoclorito</a:t>
            </a:r>
            <a:r>
              <a:rPr sz="1600" spc="-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-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sódio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FORMULA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QUIMICA:</a:t>
            </a:r>
            <a:r>
              <a:rPr sz="1600" spc="-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NaClO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PESO</a:t>
            </a:r>
            <a:r>
              <a:rPr sz="1600" spc="-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MOLECULAR:</a:t>
            </a:r>
            <a:r>
              <a:rPr sz="1600" spc="-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74,5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Aplicação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e</a:t>
            </a:r>
            <a:r>
              <a:rPr sz="1600" b="1" u="sng" spc="-3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dosagem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  <a:tabLst>
                <a:tab pos="746760" algn="l"/>
                <a:tab pos="1544320" algn="l"/>
                <a:tab pos="2546985" algn="l"/>
              </a:tabLst>
            </a:pP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Líquido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límpido,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levemente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amarelado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6794" y="2823210"/>
            <a:ext cx="37992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2570" algn="l"/>
                <a:tab pos="579120" algn="l"/>
                <a:tab pos="1103630" algn="l"/>
                <a:tab pos="2332355" algn="l"/>
                <a:tab pos="2915920" algn="l"/>
                <a:tab pos="3254375" algn="l"/>
              </a:tabLst>
            </a:pP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característico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(odor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cloro);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737" y="3042666"/>
            <a:ext cx="7346950" cy="7092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ct val="90300"/>
              </a:lnSpc>
              <a:spcBef>
                <a:spcPts val="280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Propriedades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oxidantes,</a:t>
            </a:r>
            <a:r>
              <a:rPr sz="1600" spc="43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por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isso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é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instável;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Produto</a:t>
            </a:r>
            <a:r>
              <a:rPr sz="1600" spc="4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termo-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instável,</a:t>
            </a:r>
            <a:r>
              <a:rPr sz="1600" spc="4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decomposição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acelerada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partir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40°</a:t>
            </a:r>
            <a:r>
              <a:rPr sz="16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Densidade: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Mínimo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1,200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g/cm3;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pH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solução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5%: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9,0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–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12,0.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736" y="4061169"/>
            <a:ext cx="7789063" cy="2584682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just"/>
            <a:r>
              <a:rPr lang="pt-BR" sz="1600" dirty="0"/>
              <a:t>Após o início da gestão em 11/08/2025, os dados coletados apresentaram-se dentro dos parâmetros esperados, indicando estabilidade nos indicadores operacionais e aderência aos padrões previamente estabelecidos.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Conforme estabelecido no plano de manutenção preventiva, todas as inspeções e análises operacionais são executadas diariamente durante as visitas técnicas. Essa prática permite um acompanhamento sistemático dos parâmetros críticos dos equipamentos, garantindo maior precisão na detecção de falhas potenciais e contribuindo diretamente para a confiabilidade e disponibilidade dos ativos</a:t>
            </a:r>
            <a:r>
              <a:rPr lang="pt-BR" sz="1200" dirty="0"/>
              <a:t>.</a:t>
            </a:r>
          </a:p>
          <a:p>
            <a:pPr marL="2833370">
              <a:lnSpc>
                <a:spcPct val="100000"/>
              </a:lnSpc>
              <a:spcBef>
                <a:spcPts val="455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309448"/>
            <a:ext cx="1977389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Produto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702095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sz="4000" dirty="0"/>
              <a:t>Calibração de equipamento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971875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276A7A-85E2-183E-3F14-C12ECF8DC392}"/>
              </a:ext>
            </a:extLst>
          </p:cNvPr>
          <p:cNvSpPr txBox="1"/>
          <p:nvPr/>
        </p:nvSpPr>
        <p:spPr>
          <a:xfrm>
            <a:off x="533400" y="1600200"/>
            <a:ext cx="746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Cada visita realizamos a aferição do equipamento leitor de parâmetros a fim de garantir uma leitura precisa e de alta confiabilidade. A calibração do mesmo ocorre quando identificado diferença igual ou superior a 0,10ppm comparado ao leitor manual conforme exemplificado nas imagens abaixo.</a:t>
            </a:r>
          </a:p>
        </p:txBody>
      </p:sp>
      <p:pic>
        <p:nvPicPr>
          <p:cNvPr id="100" name="Imagem 99">
            <a:extLst>
              <a:ext uri="{FF2B5EF4-FFF2-40B4-BE49-F238E27FC236}">
                <a16:creationId xmlns:a16="http://schemas.microsoft.com/office/drawing/2014/main" id="{E4C727C9-A402-46B1-870E-E11D51F5B6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02907" y="3351304"/>
            <a:ext cx="3642452" cy="2731839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EC28FCF1-B10F-9175-9B09-02866D6B99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52881" y="3351304"/>
            <a:ext cx="3642452" cy="2731839"/>
          </a:xfrm>
          <a:prstGeom prst="rect">
            <a:avLst/>
          </a:prstGeom>
        </p:spPr>
      </p:pic>
      <p:pic>
        <p:nvPicPr>
          <p:cNvPr id="106" name="Imagem 105">
            <a:extLst>
              <a:ext uri="{FF2B5EF4-FFF2-40B4-BE49-F238E27FC236}">
                <a16:creationId xmlns:a16="http://schemas.microsoft.com/office/drawing/2014/main" id="{F3455396-7448-12AC-5B84-23AF32391D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8668" y="3351304"/>
            <a:ext cx="3642452" cy="27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5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1E05E6-5028-E09F-8E2B-F566DE472A7E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1997" y="927595"/>
            <a:ext cx="2674800" cy="3276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CE43BC-630C-07B1-3793-F0B580C339A1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27595"/>
            <a:ext cx="2674800" cy="3276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6ABEF6-E74D-BCF5-DC35-6E4981CDD9D4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1997" y="3693912"/>
            <a:ext cx="2674800" cy="327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41C661E-0D5C-9968-FFD8-DCCFD9432196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3693912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6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6ABA64B-4D2D-26F5-D358-7E966B1127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9441" y="911313"/>
            <a:ext cx="2673180" cy="32766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2B4CA8D-AEC3-5ED7-FEDF-62F87734B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6909" y="911313"/>
            <a:ext cx="2673181" cy="327659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15E3C80-3B40-A623-442E-96E4572FF9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4052" y="3694148"/>
            <a:ext cx="2723958" cy="32766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63FD2FE-9E86-ABB3-90A7-07138F436C2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98453" y="3694149"/>
            <a:ext cx="2723959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1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08/07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C6AF3AF-E8AB-C39A-CD3D-77514B048382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943636"/>
            <a:ext cx="2674800" cy="32760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31D41D3-B472-7448-537A-0282F1C59289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43636"/>
            <a:ext cx="2674800" cy="3276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9595953A-68A3-BBD0-D5DF-05376E03AD22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0464" y="3714978"/>
            <a:ext cx="2674800" cy="3276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D679E74-A86C-1CFD-9C58-B4E1ACEF8732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3714978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80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206F39E4-D70E-D96E-6827-24BE51254514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3741" y="1939326"/>
            <a:ext cx="2085047" cy="262599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C29ABCD-E232-E3B5-C7A1-D532B7BC37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14239" y="1943560"/>
            <a:ext cx="2093514" cy="2625994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BAE0387-20DA-5F4E-E458-1453A91FB3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3805" y="4226133"/>
            <a:ext cx="2211346" cy="2612422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030BDD1F-92EE-C9FB-2D25-17135ACA2A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48538" y="4226133"/>
            <a:ext cx="2211346" cy="261242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11D8B77-BEFE-3A29-E59D-59C1AA55BB2D}"/>
              </a:ext>
            </a:extLst>
          </p:cNvPr>
          <p:cNvSpPr txBox="1"/>
          <p:nvPr/>
        </p:nvSpPr>
        <p:spPr>
          <a:xfrm>
            <a:off x="381000" y="1371600"/>
            <a:ext cx="7239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Identificado queda no valor de pH abaixo do valor mínimo recomendado. Não foi identificado inconformidade no equipamento.</a:t>
            </a:r>
          </a:p>
          <a:p>
            <a:r>
              <a:rPr lang="pt-BR" sz="1600" dirty="0"/>
              <a:t>Ação realizada: Ajuste do valor referencial do equipamento.</a:t>
            </a:r>
          </a:p>
        </p:txBody>
      </p:sp>
    </p:spTree>
    <p:extLst>
      <p:ext uri="{BB962C8B-B14F-4D97-AF65-F5344CB8AC3E}">
        <p14:creationId xmlns:p14="http://schemas.microsoft.com/office/powerpoint/2010/main" val="15541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65C05C9-EC98-DA7D-D72C-F8AFCCEF5E35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942866"/>
            <a:ext cx="2674800" cy="3276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1BA4018-F5E8-E996-AD76-143239540DA5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42866"/>
            <a:ext cx="2674800" cy="3276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AC1CA69-65F5-3AF5-A686-67397C7759F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3715442"/>
            <a:ext cx="2674800" cy="3276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C5853AB-8B3E-6CDC-DB90-7C20256183FE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3715442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0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15/07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55DD4097-899B-8C32-A65A-EBF0F10CE37A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4331" y="912422"/>
            <a:ext cx="2674800" cy="327600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8A3013B7-F751-0F48-1C87-155081B49265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12421"/>
            <a:ext cx="2674800" cy="3276000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4AB61481-0408-EEBE-C8B2-EDD02057200B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4331" y="3671487"/>
            <a:ext cx="2674800" cy="327600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6029506E-DEC1-9BA5-31B1-592188CE1D49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3671487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8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9FD6CC8D-3ACC-B443-D35E-D6C54D0EEF39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920889"/>
            <a:ext cx="2674800" cy="3276000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A4584468-09C1-89D7-56BC-DE8D27444802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12422"/>
            <a:ext cx="2674800" cy="3276000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AAD9E6ED-4961-F5EF-6BC1-8687D766724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3688421"/>
            <a:ext cx="2674800" cy="327600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E0DF497F-FF67-BF56-23D6-FC4C1F4997E1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14267" y="3688421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69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5C26012A-3C21-3A27-1007-457E8F9C3CED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969388"/>
            <a:ext cx="2674800" cy="327600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9292A53E-ED9B-F7CC-4FED-32036D83AA89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969388"/>
            <a:ext cx="2674800" cy="3276000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9C91834A-CA07-72B5-067B-4C50BE6A4155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8931" y="3751554"/>
            <a:ext cx="2674800" cy="327600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22531ADA-D032-28DE-0EC2-2403C0879526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05800" y="3751554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9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0" name="Imagem 69">
            <a:extLst>
              <a:ext uri="{FF2B5EF4-FFF2-40B4-BE49-F238E27FC236}">
                <a16:creationId xmlns:a16="http://schemas.microsoft.com/office/drawing/2014/main" id="{4DB02602-4C66-BDDF-A1D4-83DA774A1173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2798" y="997070"/>
            <a:ext cx="2674800" cy="3276000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E4D8FA89-713F-5505-0B3D-5E32C2202E4E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997070"/>
            <a:ext cx="2674800" cy="3276000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BD780BC9-6DD8-EA87-49EB-1F1355BBC169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2798" y="3773050"/>
            <a:ext cx="2674800" cy="3276000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74693561-2EAC-96EA-FEE7-A56811DA1776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773050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00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21/07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8" name="Imagem 77">
            <a:extLst>
              <a:ext uri="{FF2B5EF4-FFF2-40B4-BE49-F238E27FC236}">
                <a16:creationId xmlns:a16="http://schemas.microsoft.com/office/drawing/2014/main" id="{307F2EBB-F4D6-D0DA-DF5F-6569A6F99539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6669" y="952455"/>
            <a:ext cx="2674800" cy="3276000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AF6CFA13-D137-2841-E4D2-5B7CD0492554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952455"/>
            <a:ext cx="2674800" cy="3276000"/>
          </a:xfrm>
          <a:prstGeom prst="rect">
            <a:avLst/>
          </a:prstGeom>
        </p:spPr>
      </p:pic>
      <p:pic>
        <p:nvPicPr>
          <p:cNvPr id="82" name="Imagem 81">
            <a:extLst>
              <a:ext uri="{FF2B5EF4-FFF2-40B4-BE49-F238E27FC236}">
                <a16:creationId xmlns:a16="http://schemas.microsoft.com/office/drawing/2014/main" id="{1EB96878-86F9-04F0-636A-FEBFA45440B6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6669" y="3751554"/>
            <a:ext cx="2674800" cy="3276000"/>
          </a:xfrm>
          <a:prstGeom prst="rect">
            <a:avLst/>
          </a:prstGeom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E7105880-DA34-A17F-CDD5-02F10448A3B1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751554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3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22/07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06B8C8B4-868D-8A2F-2BAD-3DBB9852DA06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4331" y="912422"/>
            <a:ext cx="2674800" cy="3276000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F9210B4B-8B21-2DA8-89B4-D71FFFE12A49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912422"/>
            <a:ext cx="2674800" cy="3276000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349022FC-1A50-2CEC-3811-27B11C828D98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4331" y="3695000"/>
            <a:ext cx="2674800" cy="3276000"/>
          </a:xfrm>
          <a:prstGeom prst="rect">
            <a:avLst/>
          </a:prstGeom>
        </p:spPr>
      </p:pic>
      <p:pic>
        <p:nvPicPr>
          <p:cNvPr id="92" name="Imagem 91">
            <a:extLst>
              <a:ext uri="{FF2B5EF4-FFF2-40B4-BE49-F238E27FC236}">
                <a16:creationId xmlns:a16="http://schemas.microsoft.com/office/drawing/2014/main" id="{46398B29-2130-4192-5BF9-55812DE92A7B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695000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9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23/07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10" name="Imagem 109">
            <a:extLst>
              <a:ext uri="{FF2B5EF4-FFF2-40B4-BE49-F238E27FC236}">
                <a16:creationId xmlns:a16="http://schemas.microsoft.com/office/drawing/2014/main" id="{39EF5676-CC3C-5E01-2E4B-56F51B8E7F31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3409" y="947638"/>
            <a:ext cx="2674800" cy="3276000"/>
          </a:xfrm>
          <a:prstGeom prst="rect">
            <a:avLst/>
          </a:prstGeom>
        </p:spPr>
      </p:pic>
      <p:pic>
        <p:nvPicPr>
          <p:cNvPr id="112" name="Imagem 111">
            <a:extLst>
              <a:ext uri="{FF2B5EF4-FFF2-40B4-BE49-F238E27FC236}">
                <a16:creationId xmlns:a16="http://schemas.microsoft.com/office/drawing/2014/main" id="{22636941-3737-E2BA-99E3-73233DC33A8A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946289"/>
            <a:ext cx="2674800" cy="3276000"/>
          </a:xfrm>
          <a:prstGeom prst="rect">
            <a:avLst/>
          </a:prstGeom>
        </p:spPr>
      </p:pic>
      <p:pic>
        <p:nvPicPr>
          <p:cNvPr id="114" name="Imagem 113">
            <a:extLst>
              <a:ext uri="{FF2B5EF4-FFF2-40B4-BE49-F238E27FC236}">
                <a16:creationId xmlns:a16="http://schemas.microsoft.com/office/drawing/2014/main" id="{BE14C048-D915-D4FD-D48F-ABE987E9FC7F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3409" y="3717687"/>
            <a:ext cx="2674800" cy="3276000"/>
          </a:xfrm>
          <a:prstGeom prst="rect">
            <a:avLst/>
          </a:prstGeom>
        </p:spPr>
      </p:pic>
      <p:pic>
        <p:nvPicPr>
          <p:cNvPr id="116" name="Imagem 115">
            <a:extLst>
              <a:ext uri="{FF2B5EF4-FFF2-40B4-BE49-F238E27FC236}">
                <a16:creationId xmlns:a16="http://schemas.microsoft.com/office/drawing/2014/main" id="{79AFE0B9-B9A1-7BE2-2CC5-6B49E2F3C7CE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717687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3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24/07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18" name="Imagem 117">
            <a:extLst>
              <a:ext uri="{FF2B5EF4-FFF2-40B4-BE49-F238E27FC236}">
                <a16:creationId xmlns:a16="http://schemas.microsoft.com/office/drawing/2014/main" id="{B636875F-CF50-3286-2CF6-E3DD6F7793A0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9200" y="952455"/>
            <a:ext cx="2674800" cy="3276000"/>
          </a:xfrm>
          <a:prstGeom prst="rect">
            <a:avLst/>
          </a:prstGeom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B49C95B-BE40-B70F-F31D-6710A95444DC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8200" y="952455"/>
            <a:ext cx="2674800" cy="3276000"/>
          </a:xfrm>
          <a:prstGeom prst="rect">
            <a:avLst/>
          </a:prstGeom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81153BD6-7EC4-3B80-7AC9-E4CD40D38B8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9200" y="3751554"/>
            <a:ext cx="2674800" cy="3276000"/>
          </a:xfrm>
          <a:prstGeom prst="rect">
            <a:avLst/>
          </a:prstGeom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2CD1C06C-3132-49D5-921F-FB1011C3A051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8200" y="3751554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8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26" name="Imagem 125">
            <a:extLst>
              <a:ext uri="{FF2B5EF4-FFF2-40B4-BE49-F238E27FC236}">
                <a16:creationId xmlns:a16="http://schemas.microsoft.com/office/drawing/2014/main" id="{42B49F74-568E-BDD9-E3E9-8721CF4F3B3C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1117" y="950614"/>
            <a:ext cx="2674800" cy="3276000"/>
          </a:xfrm>
          <a:prstGeom prst="rect">
            <a:avLst/>
          </a:prstGeom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CEB5DBAF-686F-5E6C-1B5E-C4A2C6EBDA59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950614"/>
            <a:ext cx="2674800" cy="3276000"/>
          </a:xfrm>
          <a:prstGeom prst="rect">
            <a:avLst/>
          </a:prstGeom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A4426087-02B9-7291-A568-7EE28AB85359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1117" y="3734621"/>
            <a:ext cx="2674800" cy="3276000"/>
          </a:xfrm>
          <a:prstGeom prst="rect">
            <a:avLst/>
          </a:prstGeom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04CBA305-F4B9-4B64-2050-36CEE5C6BB89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734621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58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34" name="Imagem 133">
            <a:extLst>
              <a:ext uri="{FF2B5EF4-FFF2-40B4-BE49-F238E27FC236}">
                <a16:creationId xmlns:a16="http://schemas.microsoft.com/office/drawing/2014/main" id="{5874BB74-E7F2-345A-8FA0-F9AF9ED14766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9200" y="912422"/>
            <a:ext cx="2674800" cy="3276000"/>
          </a:xfrm>
          <a:prstGeom prst="rect">
            <a:avLst/>
          </a:prstGeom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091FC43-AE77-2CBC-DDCB-85B546D21ACF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8200" y="912421"/>
            <a:ext cx="2674800" cy="3276000"/>
          </a:xfrm>
          <a:prstGeom prst="rect">
            <a:avLst/>
          </a:prstGeom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85E0696A-FF7A-E472-3454-F2C963D896D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9200" y="3715200"/>
            <a:ext cx="2674800" cy="3276000"/>
          </a:xfrm>
          <a:prstGeom prst="rect">
            <a:avLst/>
          </a:prstGeom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BF4037E3-EC9D-B53B-EE2B-CE00C8F11AE6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8200" y="3715200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0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30/07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42" name="Imagem 141">
            <a:extLst>
              <a:ext uri="{FF2B5EF4-FFF2-40B4-BE49-F238E27FC236}">
                <a16:creationId xmlns:a16="http://schemas.microsoft.com/office/drawing/2014/main" id="{2E135B74-5A04-5F7D-AE84-6AD9430F3647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2798" y="856849"/>
            <a:ext cx="2674800" cy="3276000"/>
          </a:xfrm>
          <a:prstGeom prst="rect">
            <a:avLst/>
          </a:prstGeom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60D996F2-2877-F47A-8801-6C4E0628E2F2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860116"/>
            <a:ext cx="2674800" cy="3276000"/>
          </a:xfrm>
          <a:prstGeom prst="rect">
            <a:avLst/>
          </a:prstGeom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7496270D-FF8A-8807-74F8-74EEE7DA0599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2798" y="3627649"/>
            <a:ext cx="2674800" cy="3276000"/>
          </a:xfrm>
          <a:prstGeom prst="rect">
            <a:avLst/>
          </a:prstGeom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CF2465B9-DC73-D73B-C597-52245FB3E47A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82000" y="3627649"/>
            <a:ext cx="26748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8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304800" y="131046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03/06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304800" y="838932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0" name="Imagem 149">
            <a:extLst>
              <a:ext uri="{FF2B5EF4-FFF2-40B4-BE49-F238E27FC236}">
                <a16:creationId xmlns:a16="http://schemas.microsoft.com/office/drawing/2014/main" id="{AE811557-4458-D8C8-9AF0-AEE6E8F768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56401" y="2723869"/>
            <a:ext cx="3966069" cy="2785533"/>
          </a:xfrm>
          <a:prstGeom prst="rect">
            <a:avLst/>
          </a:prstGeom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554E8B9-84A5-5172-A70C-D57CB7A3C0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46065" y="2723870"/>
            <a:ext cx="3966069" cy="2785532"/>
          </a:xfrm>
          <a:prstGeom prst="rect">
            <a:avLst/>
          </a:prstGeom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99FAC428-0D96-5CEB-425B-3CACFF65B7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48532" y="2723870"/>
            <a:ext cx="3966069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5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Visita não realizada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Data e descrição de justificativas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E9D4E9-F085-39FB-B6BC-646784657ABF}"/>
              </a:ext>
            </a:extLst>
          </p:cNvPr>
          <p:cNvSpPr txBox="1"/>
          <p:nvPr/>
        </p:nvSpPr>
        <p:spPr>
          <a:xfrm>
            <a:off x="381000" y="1600200"/>
            <a:ext cx="76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01/07 – Ocorrência TMB</a:t>
            </a:r>
          </a:p>
          <a:p>
            <a:pPr algn="just"/>
            <a:r>
              <a:rPr lang="pt-BR" sz="1600" dirty="0"/>
              <a:t>02/07 – Feriado (Independência da Bahia)</a:t>
            </a:r>
          </a:p>
          <a:p>
            <a:pPr algn="just"/>
            <a:r>
              <a:rPr lang="pt-BR" sz="1600" dirty="0"/>
              <a:t>03/07 – Ponte Veracel (confecção de relatórios)</a:t>
            </a:r>
          </a:p>
          <a:p>
            <a:pPr algn="just"/>
            <a:r>
              <a:rPr lang="pt-BR" sz="1600" dirty="0"/>
              <a:t>13/07 – Recebimento de equipamentos TMB</a:t>
            </a:r>
          </a:p>
          <a:p>
            <a:pPr algn="just"/>
            <a:r>
              <a:rPr lang="pt-BR" sz="1600" dirty="0"/>
              <a:t>14/07 – Emergência pessoal</a:t>
            </a:r>
          </a:p>
          <a:p>
            <a:pPr algn="just"/>
            <a:r>
              <a:rPr lang="pt-BR" sz="1600" dirty="0"/>
              <a:t>28/07 – Coleta de químicos Fabrica Veracel</a:t>
            </a:r>
          </a:p>
        </p:txBody>
      </p:sp>
    </p:spTree>
    <p:extLst>
      <p:ext uri="{BB962C8B-B14F-4D97-AF65-F5344CB8AC3E}">
        <p14:creationId xmlns:p14="http://schemas.microsoft.com/office/powerpoint/2010/main" val="2090923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200" y="33226"/>
            <a:ext cx="2058303" cy="879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Dados</a:t>
            </a:r>
            <a:r>
              <a:rPr spc="-180" dirty="0"/>
              <a:t> </a:t>
            </a:r>
            <a:r>
              <a:rPr spc="-55" dirty="0"/>
              <a:t>do</a:t>
            </a:r>
            <a:r>
              <a:rPr spc="-175" dirty="0"/>
              <a:t> </a:t>
            </a:r>
            <a:r>
              <a:rPr spc="-90" dirty="0"/>
              <a:t>processo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796270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urbidez, na </a:t>
            </a:r>
            <a:r>
              <a:rPr lang="pt-BR" b="1" spc="-15" dirty="0">
                <a:solidFill>
                  <a:srgbClr val="2E2B1F"/>
                </a:solidFill>
                <a:latin typeface="Arial"/>
                <a:cs typeface="Arial"/>
              </a:rPr>
              <a:t>E</a:t>
            </a:r>
            <a:r>
              <a:rPr lang="pt-BR" sz="1800" b="1" spc="-15" dirty="0">
                <a:solidFill>
                  <a:srgbClr val="2E2B1F"/>
                </a:solidFill>
                <a:latin typeface="Arial"/>
                <a:cs typeface="Arial"/>
              </a:rPr>
              <a:t>ta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 viveiro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A97BF1-3EBA-3DE8-6063-8097D9B52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99000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6F4E0E3-B20F-7D85-E34E-3ADF7EA93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400" y="1183674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2E1119E-7706-0A0D-4A91-BF30666C62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83674"/>
            <a:ext cx="4174200" cy="278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90A9D550-AAB6-05AE-8E7D-FEEEAE1E588F}"/>
              </a:ext>
            </a:extLst>
          </p:cNvPr>
          <p:cNvSpPr txBox="1">
            <a:spLocks/>
          </p:cNvSpPr>
          <p:nvPr/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pc="-95" dirty="0"/>
              <a:t>Dados</a:t>
            </a:r>
            <a:r>
              <a:rPr lang="pt-BR" spc="-180" dirty="0"/>
              <a:t> </a:t>
            </a:r>
            <a:r>
              <a:rPr lang="pt-BR" spc="-55" dirty="0"/>
              <a:t>do</a:t>
            </a:r>
            <a:r>
              <a:rPr lang="pt-BR" spc="-175" dirty="0"/>
              <a:t> </a:t>
            </a:r>
            <a:r>
              <a:rPr lang="pt-BR" spc="-90" dirty="0"/>
              <a:t>processo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F9899C-842C-B619-C0AC-F013ED30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76200"/>
            <a:ext cx="2054530" cy="883997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D199A125-59D8-C2DB-5C31-1827CD4A4153}"/>
              </a:ext>
            </a:extLst>
          </p:cNvPr>
          <p:cNvSpPr txBox="1"/>
          <p:nvPr/>
        </p:nvSpPr>
        <p:spPr>
          <a:xfrm>
            <a:off x="228600" y="796270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</a:t>
            </a:r>
            <a:r>
              <a:rPr lang="pt-BR" sz="1800" b="1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b="1" spc="-15" dirty="0">
                <a:solidFill>
                  <a:srgbClr val="2E2B1F"/>
                </a:solidFill>
                <a:latin typeface="Arial"/>
                <a:cs typeface="Arial"/>
              </a:rPr>
              <a:t>Refeitório 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viveiro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2D8F8A-637A-318F-64A3-629803FF1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99000"/>
            <a:ext cx="4174200" cy="2782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37E34C1-0CCE-E4E3-4072-104415E9B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333" y="1188906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F8CD126-B0C1-692A-FFCE-ED940E0BC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88906"/>
            <a:ext cx="4174200" cy="27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65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52400" y="76200"/>
            <a:ext cx="4878705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Dados</a:t>
            </a:r>
            <a:r>
              <a:rPr spc="-180" dirty="0"/>
              <a:t> </a:t>
            </a:r>
            <a:r>
              <a:rPr spc="-55" dirty="0"/>
              <a:t>do</a:t>
            </a:r>
            <a:r>
              <a:rPr spc="-175" dirty="0"/>
              <a:t> </a:t>
            </a:r>
            <a:r>
              <a:rPr spc="-90" dirty="0"/>
              <a:t>processo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AB9764B-D041-B07C-8AF9-55DEC47FE16D}"/>
              </a:ext>
            </a:extLst>
          </p:cNvPr>
          <p:cNvSpPr txBox="1"/>
          <p:nvPr/>
        </p:nvSpPr>
        <p:spPr>
          <a:xfrm>
            <a:off x="152400" y="796269"/>
            <a:ext cx="6858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Turbidez, na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z="1800" b="1" spc="-15" dirty="0">
                <a:solidFill>
                  <a:srgbClr val="2E2B1F"/>
                </a:solidFill>
                <a:latin typeface="Arial"/>
                <a:cs typeface="Arial"/>
              </a:rPr>
              <a:t>Silvicultura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  viveiro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F97ED9-3B60-09FE-932B-36993BEAE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99000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6556C4-C218-2A65-762E-BF5A573EA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172" y="1185013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9639C77-8CFB-8159-6EF4-2B7DBD7EC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85013"/>
            <a:ext cx="4174200" cy="2782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65682" y="106813"/>
            <a:ext cx="4618646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Dados</a:t>
            </a:r>
            <a:r>
              <a:rPr spc="-180" dirty="0"/>
              <a:t> </a:t>
            </a:r>
            <a:r>
              <a:rPr spc="-55" dirty="0"/>
              <a:t>do</a:t>
            </a:r>
            <a:r>
              <a:rPr spc="-175" dirty="0"/>
              <a:t> </a:t>
            </a:r>
            <a:r>
              <a:rPr spc="-90" dirty="0"/>
              <a:t>processo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E8899CF-3BFB-81ED-14D6-FD06BDEC5ABA}"/>
              </a:ext>
            </a:extLst>
          </p:cNvPr>
          <p:cNvSpPr txBox="1"/>
          <p:nvPr/>
        </p:nvSpPr>
        <p:spPr>
          <a:xfrm>
            <a:off x="119325" y="821752"/>
            <a:ext cx="684471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Turbidez, na </a:t>
            </a:r>
            <a:r>
              <a:rPr lang="pt-BR" b="1" spc="-15" dirty="0">
                <a:solidFill>
                  <a:srgbClr val="2E2B1F"/>
                </a:solidFill>
                <a:latin typeface="Arial"/>
                <a:cs typeface="Arial"/>
              </a:rPr>
              <a:t>Prod. mudas 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viveiro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52188F-03EB-A474-CC82-985244064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8" y="3968387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7B723A5-BB1F-12B2-A76A-CF69AEBDB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172" y="1148581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45536C1-41E8-C72D-4B01-A3365CAA9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5" y="1148581"/>
            <a:ext cx="4174200" cy="2782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06BE0-A0B2-85FA-D824-41A50284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7" y="252311"/>
            <a:ext cx="5257800" cy="707886"/>
          </a:xfrm>
        </p:spPr>
        <p:txBody>
          <a:bodyPr/>
          <a:lstStyle/>
          <a:p>
            <a:r>
              <a:rPr lang="pt-BR" dirty="0"/>
              <a:t>VISITA VIVEIRO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7B08E1-9688-26EF-F33A-ECB791AB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76200"/>
            <a:ext cx="2054530" cy="883997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91391EC-DFA0-1F57-395F-33AE8A0AF2BD}"/>
              </a:ext>
            </a:extLst>
          </p:cNvPr>
          <p:cNvSpPr txBox="1"/>
          <p:nvPr/>
        </p:nvSpPr>
        <p:spPr>
          <a:xfrm>
            <a:off x="304800" y="942353"/>
            <a:ext cx="647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Biogreen' plano de atuação na  Viveiro (Núcleo Florestal)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BBBD11-771D-F45D-FF2C-6D4D39C499DC}"/>
              </a:ext>
            </a:extLst>
          </p:cNvPr>
          <p:cNvSpPr txBox="1"/>
          <p:nvPr/>
        </p:nvSpPr>
        <p:spPr>
          <a:xfrm>
            <a:off x="228600" y="1504156"/>
            <a:ext cx="80743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 equipe Biogreen' tem realizado visitas técnicas diárias à Estação Veracel, com foco no plano de controle da água potável da unidade.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Durante essas visitas, estamos monitorando os seguintes parâmetros: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Cloro residual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pH da água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Turbidez</a:t>
            </a:r>
          </a:p>
          <a:p>
            <a:pPr algn="just"/>
            <a:endParaRPr lang="pt-BR" sz="1600" dirty="0"/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Além do monitoramento, foram executadas as seguintes ações corretivas e preventivas: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Reposição estoque de químicos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Limpeza do sistema de dosagem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Limpeza da sala de aplicação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Programação de drenagem e lavagem da caixa d’água</a:t>
            </a:r>
          </a:p>
          <a:p>
            <a:pPr algn="just"/>
            <a:endParaRPr lang="pt-BR" sz="1600" dirty="0"/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Todos os dados e ações estão sendo registrados e acompanhados através de uma planilha de controle específica, garantindo rastreabilidade e conformidade com os padrões de qualidade exigidos.</a:t>
            </a:r>
          </a:p>
        </p:txBody>
      </p:sp>
    </p:spTree>
    <p:extLst>
      <p:ext uri="{BB962C8B-B14F-4D97-AF65-F5344CB8AC3E}">
        <p14:creationId xmlns:p14="http://schemas.microsoft.com/office/powerpoint/2010/main" val="2304011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9B3BF-F508-2FF3-21BB-66A20A8A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50" y="0"/>
            <a:ext cx="4143960" cy="1077218"/>
          </a:xfrm>
        </p:spPr>
        <p:txBody>
          <a:bodyPr/>
          <a:lstStyle/>
          <a:p>
            <a:r>
              <a:rPr lang="pt-BR" dirty="0"/>
              <a:t>Conclusão</a:t>
            </a:r>
            <a:br>
              <a:rPr lang="pt-BR" dirty="0"/>
            </a:br>
            <a:r>
              <a:rPr lang="pt-BR" sz="2400" dirty="0"/>
              <a:t>Controle de Qualidade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DE04E1-39C7-F0CC-49F4-1B6EB9151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0" y="1349524"/>
            <a:ext cx="3338778" cy="4924425"/>
          </a:xfrm>
        </p:spPr>
        <p:txBody>
          <a:bodyPr/>
          <a:lstStyle/>
          <a:p>
            <a:r>
              <a:rPr lang="pt-BR" sz="1600" dirty="0"/>
              <a:t>O Biohipo 33 , fornecido pela Biogreen’ para a unidade Veracel, passa por um rigoroso controle de qualidade. São realizados diversos testes em laboratório, acompanhados pela equipe de controle de qualidade da Biogreen', sob a supervisão da líder, a senhora Caroline Larissa. Esses testes são realizados no laboratório central da Biogreen', localizado em Suzano, São Paulo. </a:t>
            </a:r>
          </a:p>
          <a:p>
            <a:r>
              <a:rPr lang="pt-BR" sz="1600" dirty="0"/>
              <a:t>Com isso, nossos resultados com o  Biohipo 33 aplicado na ETA na unidade Veracel tem demostrado bons resultados. </a:t>
            </a:r>
          </a:p>
          <a:p>
            <a:r>
              <a:rPr lang="pt-BR" sz="1600" dirty="0"/>
              <a:t>Agradecemos pela oportunidade de colaborar no desenvolvimento desse projeto de controle de tratamento de agua potável  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8BCABD8-92D7-62EE-6015-6EEB3DA325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9485" y="125835"/>
            <a:ext cx="2210703" cy="1105417"/>
          </a:xfrm>
          <a:prstGeom prst="rect">
            <a:avLst/>
          </a:prstGeom>
        </p:spPr>
      </p:pic>
      <p:pic>
        <p:nvPicPr>
          <p:cNvPr id="6" name="Imagem 5" descr="Uma imagem contendo quarto de hospital, homem, mesa, óculos&#10;&#10;O conteúdo gerado por IA pode estar incorreto.">
            <a:extLst>
              <a:ext uri="{FF2B5EF4-FFF2-40B4-BE49-F238E27FC236}">
                <a16:creationId xmlns:a16="http://schemas.microsoft.com/office/drawing/2014/main" id="{D69DECDA-2A0D-3BE6-FD24-61990A24E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1" y="1349524"/>
            <a:ext cx="4068660" cy="2758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 descr="Garrafa de vidro&#10;&#10;O conteúdo gerado por IA pode estar incorreto.">
            <a:extLst>
              <a:ext uri="{FF2B5EF4-FFF2-40B4-BE49-F238E27FC236}">
                <a16:creationId xmlns:a16="http://schemas.microsoft.com/office/drawing/2014/main" id="{C3B84347-B026-D894-4B5F-2038461897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0" y="4291303"/>
            <a:ext cx="4068660" cy="2190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5521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6782" y="2667254"/>
            <a:ext cx="11557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20"/>
              </a:lnSpc>
            </a:pPr>
            <a:r>
              <a:rPr sz="3600" spc="-60" dirty="0">
                <a:solidFill>
                  <a:srgbClr val="EBEBEB"/>
                </a:solidFill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2"/>
            <a:ext cx="9144000" cy="68460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26333" y="2573477"/>
            <a:ext cx="253111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570230" marR="5080" indent="-558165">
              <a:lnSpc>
                <a:spcPts val="3890"/>
              </a:lnSpc>
              <a:spcBef>
                <a:spcPts val="590"/>
              </a:spcBef>
            </a:pPr>
            <a:r>
              <a:rPr sz="3600" b="1" i="1" dirty="0">
                <a:latin typeface="Calibri"/>
                <a:cs typeface="Calibri"/>
              </a:rPr>
              <a:t>Merci</a:t>
            </a:r>
            <a:r>
              <a:rPr sz="3600" b="1" i="1" spc="-25" dirty="0">
                <a:latin typeface="Calibri"/>
                <a:cs typeface="Calibri"/>
              </a:rPr>
              <a:t> </a:t>
            </a:r>
            <a:r>
              <a:rPr sz="3600" b="1" i="1" spc="-10" dirty="0">
                <a:latin typeface="Calibri"/>
                <a:cs typeface="Calibri"/>
              </a:rPr>
              <a:t>d'avoir écouté.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1321" y="4055186"/>
            <a:ext cx="1960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10" dirty="0">
                <a:latin typeface="Calibri"/>
                <a:cs typeface="Calibri"/>
              </a:rPr>
              <a:t>Obrigado!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7179" y="580390"/>
            <a:ext cx="7712075" cy="5995035"/>
            <a:chOff x="697179" y="580390"/>
            <a:chExt cx="7712075" cy="5995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599" y="580410"/>
              <a:ext cx="2820050" cy="14101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9289" y="6155639"/>
              <a:ext cx="628929" cy="419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9563" y="6181458"/>
              <a:ext cx="818070" cy="3272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8251" y="6181458"/>
              <a:ext cx="375894" cy="3515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5060" y="6155652"/>
              <a:ext cx="628929" cy="3773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3368" y="6157760"/>
              <a:ext cx="856970" cy="3237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3964" y="580390"/>
              <a:ext cx="4124705" cy="1410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7951" y="6157772"/>
              <a:ext cx="787615" cy="3134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4140" y="6230391"/>
              <a:ext cx="1038860" cy="1596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7179" y="6237312"/>
              <a:ext cx="459854" cy="180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15386</TotalTime>
  <Words>941</Words>
  <Application>Microsoft Office PowerPoint</Application>
  <PresentationFormat>Apresentação na tela (4:3)</PresentationFormat>
  <Paragraphs>137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Cambria</vt:lpstr>
      <vt:lpstr>Times New Roman</vt:lpstr>
      <vt:lpstr>Wingdings</vt:lpstr>
      <vt:lpstr>Office Theme</vt:lpstr>
      <vt:lpstr>        RELATÓRIO ACOMPANHAMENTO VIVEIRO  HIPOCLORITO – JUL/2026</vt:lpstr>
      <vt:lpstr>Posição Global</vt:lpstr>
      <vt:lpstr>Soluções</vt:lpstr>
      <vt:lpstr>Produto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Dados do processo</vt:lpstr>
      <vt:lpstr>Apresentação do PowerPoint</vt:lpstr>
      <vt:lpstr>Dados do processo</vt:lpstr>
      <vt:lpstr>Dados do processo</vt:lpstr>
      <vt:lpstr>VISITA VIVEIRO</vt:lpstr>
      <vt:lpstr>Conclusão Controle de Qualidade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Biofort G25 - Scott Bond AAA 180 g</dc:title>
  <dc:creator>Renato</dc:creator>
  <cp:lastModifiedBy>User</cp:lastModifiedBy>
  <cp:revision>26</cp:revision>
  <dcterms:created xsi:type="dcterms:W3CDTF">2024-12-26T15:41:27Z</dcterms:created>
  <dcterms:modified xsi:type="dcterms:W3CDTF">2026-08-10T16:16:47Z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2024-12-26T00:00:00Z</vt:filetime>
  </property>
  <property fmtid="{D5CDD505-2E9C-101B-9397-08002B2CF9AE}" pid="5" name="Producer">
    <vt:lpwstr>Microsoft® PowerPoint® para Microsoft 365</vt:lpwstr>
  </property>
</Properties>
</file>