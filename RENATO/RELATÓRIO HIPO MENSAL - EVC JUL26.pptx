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57.jpg" ContentType="image/jpeg"/>
  <Override PartName="/ppt/media/image58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325" r:id="rId6"/>
    <p:sldId id="336" r:id="rId7"/>
    <p:sldId id="335" r:id="rId8"/>
    <p:sldId id="334" r:id="rId9"/>
    <p:sldId id="333" r:id="rId10"/>
    <p:sldId id="332" r:id="rId11"/>
    <p:sldId id="331" r:id="rId12"/>
    <p:sldId id="330" r:id="rId13"/>
    <p:sldId id="329" r:id="rId14"/>
    <p:sldId id="328" r:id="rId15"/>
    <p:sldId id="327" r:id="rId16"/>
    <p:sldId id="326" r:id="rId17"/>
    <p:sldId id="321" r:id="rId18"/>
    <p:sldId id="324" r:id="rId19"/>
    <p:sldId id="323" r:id="rId20"/>
    <p:sldId id="322" r:id="rId21"/>
    <p:sldId id="320" r:id="rId22"/>
    <p:sldId id="313" r:id="rId23"/>
    <p:sldId id="261" r:id="rId24"/>
    <p:sldId id="270" r:id="rId25"/>
    <p:sldId id="276" r:id="rId26"/>
    <p:sldId id="273" r:id="rId27"/>
    <p:sldId id="264" r:id="rId2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>
      <p:cViewPr varScale="1">
        <p:scale>
          <a:sx n="90" d="100"/>
          <a:sy n="90" d="100"/>
        </p:scale>
        <p:origin x="12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E92C5-89E9-4055-A88A-E15A8A395D44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29DD0-07A1-4B55-B77C-7FB943C1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74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9DD0-07A1-4B55-B77C-7FB943C1A12C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9562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309448"/>
            <a:ext cx="449516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E2B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E2B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458200" y="0"/>
            <a:ext cx="685800" cy="6858000"/>
          </a:xfrm>
          <a:custGeom>
            <a:avLst/>
            <a:gdLst/>
            <a:ahLst/>
            <a:cxnLst/>
            <a:rect l="l" t="t" r="r" b="b"/>
            <a:pathLst>
              <a:path w="685800" h="6858000">
                <a:moveTo>
                  <a:pt x="685800" y="6172200"/>
                </a:moveTo>
                <a:lnTo>
                  <a:pt x="0" y="6172200"/>
                </a:lnTo>
                <a:lnTo>
                  <a:pt x="0" y="6858000"/>
                </a:lnTo>
                <a:lnTo>
                  <a:pt x="685800" y="6858000"/>
                </a:lnTo>
                <a:lnTo>
                  <a:pt x="685800" y="6172200"/>
                </a:lnTo>
                <a:close/>
              </a:path>
              <a:path w="685800" h="6858000">
                <a:moveTo>
                  <a:pt x="685800" y="0"/>
                </a:moveTo>
                <a:lnTo>
                  <a:pt x="0" y="0"/>
                </a:lnTo>
                <a:lnTo>
                  <a:pt x="0" y="5486400"/>
                </a:lnTo>
                <a:lnTo>
                  <a:pt x="685800" y="5486400"/>
                </a:lnTo>
                <a:lnTo>
                  <a:pt x="685800" y="0"/>
                </a:lnTo>
                <a:close/>
              </a:path>
            </a:pathLst>
          </a:custGeom>
          <a:solidFill>
            <a:srgbClr val="675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458200" y="5486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0"/>
                </a:moveTo>
                <a:lnTo>
                  <a:pt x="0" y="0"/>
                </a:lnTo>
                <a:lnTo>
                  <a:pt x="0" y="685800"/>
                </a:lnTo>
                <a:lnTo>
                  <a:pt x="685800" y="685800"/>
                </a:lnTo>
                <a:lnTo>
                  <a:pt x="685800" y="0"/>
                </a:lnTo>
                <a:close/>
              </a:path>
            </a:pathLst>
          </a:custGeom>
          <a:solidFill>
            <a:srgbClr val="A9A4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370" y="109550"/>
            <a:ext cx="3476625" cy="9263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7801" y="2730245"/>
            <a:ext cx="7084059" cy="1977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E2B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g"/><Relationship Id="rId3" Type="http://schemas.openxmlformats.org/officeDocument/2006/relationships/image" Target="../media/image4.jpg"/><Relationship Id="rId7" Type="http://schemas.openxmlformats.org/officeDocument/2006/relationships/image" Target="../media/image63.jpg"/><Relationship Id="rId12" Type="http://schemas.openxmlformats.org/officeDocument/2006/relationships/image" Target="../media/image68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jpg"/><Relationship Id="rId11" Type="http://schemas.openxmlformats.org/officeDocument/2006/relationships/image" Target="../media/image67.jpg"/><Relationship Id="rId5" Type="http://schemas.openxmlformats.org/officeDocument/2006/relationships/image" Target="../media/image61.jpg"/><Relationship Id="rId10" Type="http://schemas.openxmlformats.org/officeDocument/2006/relationships/image" Target="../media/image66.jpg"/><Relationship Id="rId4" Type="http://schemas.openxmlformats.org/officeDocument/2006/relationships/image" Target="../media/image60.jpg"/><Relationship Id="rId9" Type="http://schemas.openxmlformats.org/officeDocument/2006/relationships/image" Target="../media/image6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3041" y="2132838"/>
              <a:ext cx="4119245" cy="2304415"/>
            </a:xfrm>
            <a:custGeom>
              <a:avLst/>
              <a:gdLst/>
              <a:ahLst/>
              <a:cxnLst/>
              <a:rect l="l" t="t" r="r" b="b"/>
              <a:pathLst>
                <a:path w="4119245" h="2304415">
                  <a:moveTo>
                    <a:pt x="4119003" y="0"/>
                  </a:moveTo>
                  <a:lnTo>
                    <a:pt x="0" y="0"/>
                  </a:lnTo>
                  <a:lnTo>
                    <a:pt x="0" y="2304288"/>
                  </a:lnTo>
                  <a:lnTo>
                    <a:pt x="3734955" y="2304288"/>
                  </a:lnTo>
                  <a:lnTo>
                    <a:pt x="4119003" y="1920239"/>
                  </a:lnTo>
                  <a:lnTo>
                    <a:pt x="4119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3041" y="2132838"/>
              <a:ext cx="4119245" cy="2304415"/>
            </a:xfrm>
            <a:custGeom>
              <a:avLst/>
              <a:gdLst/>
              <a:ahLst/>
              <a:cxnLst/>
              <a:rect l="l" t="t" r="r" b="b"/>
              <a:pathLst>
                <a:path w="4119245" h="2304415">
                  <a:moveTo>
                    <a:pt x="4119003" y="0"/>
                  </a:moveTo>
                  <a:lnTo>
                    <a:pt x="4119003" y="1920239"/>
                  </a:lnTo>
                  <a:lnTo>
                    <a:pt x="3734955" y="2304288"/>
                  </a:lnTo>
                  <a:lnTo>
                    <a:pt x="0" y="2304288"/>
                  </a:lnTo>
                  <a:lnTo>
                    <a:pt x="0" y="0"/>
                  </a:lnTo>
                  <a:lnTo>
                    <a:pt x="4119003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627" y="2132838"/>
              <a:ext cx="3197352" cy="170446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7200" y="1656785"/>
            <a:ext cx="8559559" cy="2782813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24560" marR="4047490" indent="-460375">
              <a:lnSpc>
                <a:spcPct val="100000"/>
              </a:lnSpc>
            </a:pPr>
            <a:r>
              <a:rPr sz="1800" b="1" spc="-25" dirty="0">
                <a:solidFill>
                  <a:srgbClr val="08761D"/>
                </a:solidFill>
                <a:latin typeface="Calibri"/>
                <a:cs typeface="Calibri"/>
              </a:rPr>
              <a:t>RELATÓRIO</a:t>
            </a:r>
            <a:r>
              <a:rPr sz="1800" b="1" spc="-15" dirty="0">
                <a:solidFill>
                  <a:srgbClr val="08761D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8761D"/>
                </a:solidFill>
                <a:latin typeface="Calibri"/>
                <a:cs typeface="Calibri"/>
              </a:rPr>
              <a:t>ACOMPANHAMENTO</a:t>
            </a:r>
            <a:r>
              <a:rPr lang="pt-BR" sz="1800" b="1" spc="-20" dirty="0">
                <a:solidFill>
                  <a:srgbClr val="08761D"/>
                </a:solidFill>
                <a:latin typeface="Calibri"/>
                <a:cs typeface="Calibri"/>
              </a:rPr>
              <a:t> ESTAÇÃO</a:t>
            </a:r>
            <a:r>
              <a:rPr sz="1800" b="1" spc="-20" dirty="0">
                <a:solidFill>
                  <a:srgbClr val="08761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8761D"/>
                </a:solidFill>
                <a:latin typeface="Calibri"/>
                <a:cs typeface="Calibri"/>
              </a:rPr>
              <a:t>HIPOCLORITO</a:t>
            </a:r>
            <a:r>
              <a:rPr sz="1800" b="1" spc="-25" dirty="0">
                <a:solidFill>
                  <a:srgbClr val="0876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8761D"/>
                </a:solidFill>
                <a:latin typeface="Calibri"/>
                <a:cs typeface="Calibri"/>
              </a:rPr>
              <a:t>–</a:t>
            </a:r>
            <a:r>
              <a:rPr lang="pt-BR" sz="1800" b="1" dirty="0">
                <a:solidFill>
                  <a:srgbClr val="08761D"/>
                </a:solidFill>
                <a:latin typeface="Calibri"/>
                <a:cs typeface="Calibri"/>
              </a:rPr>
              <a:t> JUL/2026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2225" y="19284"/>
            <a:ext cx="2080689" cy="10404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5155" y="1044016"/>
            <a:ext cx="751522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33045" algn="just">
              <a:lnSpc>
                <a:spcPct val="100000"/>
              </a:lnSpc>
              <a:spcBef>
                <a:spcPts val="100"/>
              </a:spcBef>
              <a:buClr>
                <a:srgbClr val="92D050"/>
              </a:buClr>
              <a:buSzPct val="95833"/>
              <a:buFont typeface="Wingdings"/>
              <a:buChar char=""/>
              <a:tabLst>
                <a:tab pos="241300" algn="l"/>
                <a:tab pos="251460" algn="l"/>
              </a:tabLst>
            </a:pPr>
            <a:r>
              <a:rPr sz="2400" dirty="0">
                <a:solidFill>
                  <a:srgbClr val="92D050"/>
                </a:solidFill>
                <a:latin typeface="Calibri"/>
                <a:cs typeface="Calibri"/>
              </a:rPr>
              <a:t>	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Biogreen</a:t>
            </a:r>
            <a:r>
              <a:rPr sz="2400" b="1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Chemicals,</a:t>
            </a:r>
            <a:r>
              <a:rPr sz="2400" b="1" spc="5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empresa</a:t>
            </a:r>
            <a:r>
              <a:rPr sz="2400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Brasileira</a:t>
            </a:r>
            <a:r>
              <a:rPr sz="2400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que</a:t>
            </a:r>
            <a:r>
              <a:rPr sz="2400" spc="5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400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mais</a:t>
            </a:r>
            <a:r>
              <a:rPr sz="2400" spc="5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uma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década</a:t>
            </a:r>
            <a:r>
              <a:rPr sz="2400" spc="3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atua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na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América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do</a:t>
            </a:r>
            <a:r>
              <a:rPr sz="2400" spc="3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Sul,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América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do</a:t>
            </a:r>
            <a:r>
              <a:rPr sz="2400" spc="3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Norte,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Ásia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Europa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com</a:t>
            </a:r>
            <a:r>
              <a:rPr sz="2400" spc="-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suas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sedes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em</a:t>
            </a:r>
            <a:r>
              <a:rPr sz="24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São</a:t>
            </a:r>
            <a:r>
              <a:rPr sz="24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Paulo</a:t>
            </a:r>
            <a:r>
              <a:rPr sz="24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Paris.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155" y="4410202"/>
            <a:ext cx="7515859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33045" algn="just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41300" algn="l"/>
                <a:tab pos="251460" algn="l"/>
              </a:tabLst>
            </a:pPr>
            <a:r>
              <a:rPr sz="2400" dirty="0">
                <a:solidFill>
                  <a:srgbClr val="92D050"/>
                </a:solidFill>
                <a:latin typeface="Calibri"/>
                <a:cs typeface="Calibri"/>
              </a:rPr>
              <a:t>	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Atendendo</a:t>
            </a:r>
            <a:r>
              <a:rPr sz="2400" spc="39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o</a:t>
            </a:r>
            <a:r>
              <a:rPr sz="2400" spc="39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mercado</a:t>
            </a:r>
            <a:r>
              <a:rPr sz="2400" spc="400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nacional</a:t>
            </a:r>
            <a:r>
              <a:rPr sz="2400" spc="400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400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internacional</a:t>
            </a:r>
            <a:r>
              <a:rPr sz="2400" spc="39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de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celulose</a:t>
            </a:r>
            <a:r>
              <a:rPr sz="2400" b="1" spc="5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b="1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papel</a:t>
            </a:r>
            <a:r>
              <a:rPr sz="2400" b="1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com</a:t>
            </a:r>
            <a:r>
              <a:rPr sz="2400" spc="5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soluções</a:t>
            </a:r>
            <a:r>
              <a:rPr sz="2400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desenvolvidas</a:t>
            </a:r>
            <a:r>
              <a:rPr sz="2400" spc="5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2400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seu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processo,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utiliza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400" spc="3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mais</a:t>
            </a:r>
            <a:r>
              <a:rPr sz="2400" spc="3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alta</a:t>
            </a:r>
            <a:r>
              <a:rPr sz="2400" spc="3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tecnologia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desenvolver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soluções</a:t>
            </a:r>
            <a:r>
              <a:rPr sz="24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garantindo</a:t>
            </a:r>
            <a:r>
              <a:rPr sz="2400" spc="6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estabilidade</a:t>
            </a:r>
            <a:r>
              <a:rPr sz="24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rentabilidade</a:t>
            </a:r>
            <a:r>
              <a:rPr sz="24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24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sua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operação.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0" dirty="0"/>
              <a:t>Posição</a:t>
            </a:r>
            <a:r>
              <a:rPr spc="-190" dirty="0"/>
              <a:t> </a:t>
            </a:r>
            <a:r>
              <a:rPr spc="-65" dirty="0"/>
              <a:t>Global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4667" y="2222055"/>
            <a:ext cx="823480" cy="57765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315591" y="2348864"/>
            <a:ext cx="3964940" cy="1911985"/>
            <a:chOff x="2315591" y="2348864"/>
            <a:chExt cx="3964940" cy="191198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5591" y="2348864"/>
              <a:ext cx="3964939" cy="19116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9901" y="3730193"/>
              <a:ext cx="166827" cy="2474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27757" y="3057220"/>
              <a:ext cx="166827" cy="2474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7992" y="2740355"/>
              <a:ext cx="166827" cy="2474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0125" y="3164154"/>
              <a:ext cx="166827" cy="2474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29863" y="3924630"/>
              <a:ext cx="166827" cy="2474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4870" y="2492832"/>
              <a:ext cx="166827" cy="2474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8447" y="3510356"/>
              <a:ext cx="166827" cy="2474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1115" y="2962605"/>
              <a:ext cx="166827" cy="2474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1669" y="19294"/>
            <a:ext cx="2210703" cy="11054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963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Soluções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6158" y="1148276"/>
            <a:ext cx="2191385" cy="15811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795"/>
              </a:spcBef>
            </a:pPr>
            <a:r>
              <a:rPr sz="2400" b="1" spc="-10" dirty="0">
                <a:solidFill>
                  <a:srgbClr val="6C5224"/>
                </a:solidFill>
                <a:latin typeface="Calibri"/>
                <a:cs typeface="Calibri"/>
              </a:rPr>
              <a:t>CELULOSE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Auxiliar</a:t>
            </a:r>
            <a:r>
              <a:rPr sz="1700" b="1" spc="-40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de</a:t>
            </a:r>
            <a:r>
              <a:rPr sz="1700" b="1" spc="-5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cozimento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Desencrustantes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Licor</a:t>
            </a:r>
            <a:r>
              <a:rPr sz="1700" b="1" spc="-40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Sintético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Ácido</a:t>
            </a:r>
            <a:r>
              <a:rPr sz="1700" b="1" spc="-20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Sulfâmico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6015" y="2112218"/>
            <a:ext cx="2205990" cy="134429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869"/>
              </a:spcBef>
            </a:pPr>
            <a:r>
              <a:rPr sz="1500" b="1" spc="-10" dirty="0">
                <a:solidFill>
                  <a:srgbClr val="C00000"/>
                </a:solidFill>
                <a:latin typeface="Calibri"/>
                <a:cs typeface="Calibri"/>
              </a:rPr>
              <a:t>EMBALAGENS</a:t>
            </a:r>
            <a:r>
              <a:rPr sz="15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sz="1500" b="1" spc="-10" dirty="0">
                <a:solidFill>
                  <a:srgbClr val="C00000"/>
                </a:solidFill>
                <a:latin typeface="Calibri"/>
                <a:cs typeface="Calibri"/>
              </a:rPr>
              <a:t>CARTÃO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9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RS</a:t>
            </a:r>
            <a:r>
              <a:rPr sz="19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19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pvam</a:t>
            </a:r>
            <a:r>
              <a:rPr sz="19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sz="19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C00000"/>
                </a:solidFill>
                <a:latin typeface="Calibri"/>
                <a:cs typeface="Calibri"/>
              </a:rPr>
              <a:t>e-gpam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900" spc="-10" dirty="0">
                <a:solidFill>
                  <a:srgbClr val="C00000"/>
                </a:solidFill>
                <a:latin typeface="Calibri"/>
                <a:cs typeface="Calibri"/>
              </a:rPr>
              <a:t>Barreiras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900" spc="-10" dirty="0">
                <a:solidFill>
                  <a:srgbClr val="C00000"/>
                </a:solidFill>
                <a:latin typeface="Calibri"/>
                <a:cs typeface="Calibri"/>
              </a:rPr>
              <a:t>Polímeros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367" y="1361634"/>
            <a:ext cx="2209800" cy="133794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52755">
              <a:lnSpc>
                <a:spcPct val="100000"/>
              </a:lnSpc>
              <a:spcBef>
                <a:spcPts val="875"/>
              </a:spcBef>
            </a:pP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PAPEL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5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00AF50"/>
                </a:solidFill>
                <a:latin typeface="Calibri"/>
                <a:cs typeface="Calibri"/>
              </a:rPr>
              <a:t>Auxiliar</a:t>
            </a:r>
            <a:r>
              <a:rPr sz="17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17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00AF50"/>
                </a:solidFill>
                <a:latin typeface="Calibri"/>
                <a:cs typeface="Calibri"/>
              </a:rPr>
              <a:t>resistência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spc="-20" dirty="0">
                <a:solidFill>
                  <a:srgbClr val="00AF50"/>
                </a:solidFill>
                <a:latin typeface="Calibri"/>
                <a:cs typeface="Calibri"/>
              </a:rPr>
              <a:t>Cola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spc="-10" dirty="0">
                <a:solidFill>
                  <a:srgbClr val="00AF50"/>
                </a:solidFill>
                <a:latin typeface="Calibri"/>
                <a:cs typeface="Calibri"/>
              </a:rPr>
              <a:t>Amidos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182" y="4470574"/>
            <a:ext cx="1978025" cy="193738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553720">
              <a:lnSpc>
                <a:spcPct val="100000"/>
              </a:lnSpc>
              <a:spcBef>
                <a:spcPts val="1500"/>
              </a:spcBef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ÁGUAS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7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Polímeros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Nutrientes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1300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Antiespumantes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Coagulantes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9385" y="4138676"/>
            <a:ext cx="4692015" cy="22205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Resistência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Seco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(Auxiliar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processo);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Coagulantes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 &amp;</a:t>
            </a:r>
            <a:r>
              <a:rPr sz="1200" b="1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Floculantes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Retenção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 e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Drenagem;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Biocidas;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Amidos</a:t>
            </a:r>
            <a:r>
              <a:rPr sz="1200" b="1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Modificados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,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Oxidados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Hidrolisados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Auxiliar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cozimento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(aumento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do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rendimento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produção)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Controle</a:t>
            </a:r>
            <a:r>
              <a:rPr sz="1200" b="1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metais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extrativos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Novos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Antiespumantes,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auxiliar 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drenagem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(</a:t>
            </a:r>
            <a:r>
              <a:rPr sz="12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livre</a:t>
            </a:r>
            <a:r>
              <a:rPr sz="1200" b="1" u="sng" spc="-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de</a:t>
            </a:r>
            <a:r>
              <a:rPr sz="1200" b="1" u="sng" spc="-1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silicone/PDMS</a:t>
            </a:r>
            <a:r>
              <a:rPr sz="1200" b="1" u="none" spc="-10" dirty="0">
                <a:solidFill>
                  <a:srgbClr val="2E2B1F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Ácido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Sulfâmico,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soluções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lavagem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acida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alcalina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Sulfato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Sódio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Cepas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bactérias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semeadura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lagoas.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52215" y="3511042"/>
            <a:ext cx="1918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...e</a:t>
            </a:r>
            <a:r>
              <a:rPr sz="24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além</a:t>
            </a:r>
            <a:r>
              <a:rPr sz="24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E2B1F"/>
                </a:solidFill>
                <a:latin typeface="Calibri"/>
                <a:cs typeface="Calibri"/>
              </a:rPr>
              <a:t>disso: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283" y="3046401"/>
            <a:ext cx="2481580" cy="1103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52120">
              <a:lnSpc>
                <a:spcPct val="100000"/>
              </a:lnSpc>
              <a:spcBef>
                <a:spcPts val="405"/>
              </a:spcBef>
            </a:pPr>
            <a:r>
              <a:rPr sz="2400" b="1" spc="-10" dirty="0">
                <a:solidFill>
                  <a:srgbClr val="456867"/>
                </a:solidFill>
                <a:latin typeface="Calibri"/>
                <a:cs typeface="Calibri"/>
              </a:rPr>
              <a:t>TISSUE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6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dirty="0">
                <a:solidFill>
                  <a:srgbClr val="456867"/>
                </a:solidFill>
                <a:latin typeface="Calibri"/>
                <a:cs typeface="Calibri"/>
              </a:rPr>
              <a:t>Amido</a:t>
            </a:r>
            <a:r>
              <a:rPr sz="2000" b="1" spc="10" dirty="0">
                <a:solidFill>
                  <a:srgbClr val="456867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456867"/>
                </a:solidFill>
                <a:latin typeface="Calibri"/>
                <a:cs typeface="Calibri"/>
              </a:rPr>
              <a:t>pre-</a:t>
            </a:r>
            <a:r>
              <a:rPr sz="2000" b="1" spc="-25" dirty="0">
                <a:solidFill>
                  <a:srgbClr val="456867"/>
                </a:solidFill>
                <a:latin typeface="Calibri"/>
                <a:cs typeface="Calibri"/>
              </a:rPr>
              <a:t>gel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dirty="0">
                <a:solidFill>
                  <a:srgbClr val="456867"/>
                </a:solidFill>
                <a:latin typeface="Calibri"/>
                <a:cs typeface="Calibri"/>
              </a:rPr>
              <a:t>Auxiliar</a:t>
            </a:r>
            <a:r>
              <a:rPr sz="2000" b="1" spc="-35" dirty="0">
                <a:solidFill>
                  <a:srgbClr val="45686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56867"/>
                </a:solidFill>
                <a:latin typeface="Calibri"/>
                <a:cs typeface="Calibri"/>
              </a:rPr>
              <a:t>de</a:t>
            </a:r>
            <a:r>
              <a:rPr sz="2000" b="1" spc="-30" dirty="0">
                <a:solidFill>
                  <a:srgbClr val="456867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56867"/>
                </a:solidFill>
                <a:latin typeface="Calibri"/>
                <a:cs typeface="Calibri"/>
              </a:rPr>
              <a:t>processos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9033" y="1284109"/>
            <a:ext cx="1074102" cy="61695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8898" y="3069145"/>
            <a:ext cx="743661" cy="70631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7178" y="997826"/>
            <a:ext cx="777557" cy="71819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8416" y="3140303"/>
            <a:ext cx="1184351" cy="77510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00707" y="4851920"/>
            <a:ext cx="916406" cy="8648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1669" y="19294"/>
            <a:ext cx="2210703" cy="110541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6737" y="1456715"/>
            <a:ext cx="3445510" cy="163512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90"/>
              </a:spcBef>
            </a:pPr>
            <a:r>
              <a:rPr sz="1600" b="1" u="sng" spc="-1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Características</a:t>
            </a:r>
            <a:r>
              <a:rPr sz="1600" b="1" u="sng" spc="-1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5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12700" marR="87630" algn="just">
              <a:lnSpc>
                <a:spcPct val="110000"/>
              </a:lnSpc>
            </a:pP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NOME</a:t>
            </a:r>
            <a:r>
              <a:rPr sz="16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COMERCIAL:</a:t>
            </a:r>
            <a:r>
              <a:rPr sz="16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Hipoclorito</a:t>
            </a:r>
            <a:r>
              <a:rPr sz="1600" spc="-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spc="-6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sódio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FORMULA</a:t>
            </a:r>
            <a:r>
              <a:rPr sz="16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QUIMICA:</a:t>
            </a:r>
            <a:r>
              <a:rPr sz="1600" spc="-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NaClO</a:t>
            </a:r>
            <a:endParaRPr sz="16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PESO</a:t>
            </a:r>
            <a:r>
              <a:rPr sz="1600" spc="-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MOLECULAR:</a:t>
            </a:r>
            <a:r>
              <a:rPr sz="1600" spc="-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74,5</a:t>
            </a:r>
            <a:endParaRPr sz="16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90"/>
              </a:spcBef>
            </a:pPr>
            <a:r>
              <a:rPr sz="1600" b="1" u="sng" spc="-1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Aplicação</a:t>
            </a:r>
            <a:r>
              <a:rPr sz="1600" b="1" u="sng" spc="-2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e</a:t>
            </a:r>
            <a:r>
              <a:rPr sz="1600" b="1" u="sng" spc="-3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dosagem</a:t>
            </a:r>
            <a:r>
              <a:rPr sz="1600" b="1" u="sng" spc="-2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5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95"/>
              </a:spcBef>
              <a:tabLst>
                <a:tab pos="746760" algn="l"/>
                <a:tab pos="1544320" algn="l"/>
                <a:tab pos="2546985" algn="l"/>
              </a:tabLst>
            </a:pP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Líquido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límpido,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levemente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amarelado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6794" y="2823210"/>
            <a:ext cx="37992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2570" algn="l"/>
                <a:tab pos="579120" algn="l"/>
                <a:tab pos="1103630" algn="l"/>
                <a:tab pos="2332355" algn="l"/>
                <a:tab pos="2915920" algn="l"/>
                <a:tab pos="3254375" algn="l"/>
              </a:tabLst>
            </a:pPr>
            <a:r>
              <a:rPr sz="1600" spc="-5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odor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característico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(odor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cloro);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737" y="3042666"/>
            <a:ext cx="7346950" cy="7092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just">
              <a:lnSpc>
                <a:spcPct val="90300"/>
              </a:lnSpc>
              <a:spcBef>
                <a:spcPts val="280"/>
              </a:spcBef>
            </a:pP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Propriedades</a:t>
            </a:r>
            <a:r>
              <a:rPr sz="1600" spc="4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oxidantes,</a:t>
            </a:r>
            <a:r>
              <a:rPr sz="1600" spc="43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por</a:t>
            </a:r>
            <a:r>
              <a:rPr sz="1600" spc="4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isso</a:t>
            </a:r>
            <a:r>
              <a:rPr sz="1600" spc="4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é</a:t>
            </a:r>
            <a:r>
              <a:rPr sz="1600" spc="4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instável;</a:t>
            </a:r>
            <a:r>
              <a:rPr sz="1600" spc="4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Produto</a:t>
            </a:r>
            <a:r>
              <a:rPr sz="1600" spc="4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termo-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instável,</a:t>
            </a:r>
            <a:r>
              <a:rPr sz="1600" spc="4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decomposição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acelerada</a:t>
            </a:r>
            <a:r>
              <a:rPr sz="16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1600" spc="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partir</a:t>
            </a:r>
            <a:r>
              <a:rPr sz="16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40°</a:t>
            </a:r>
            <a:r>
              <a:rPr sz="16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C;</a:t>
            </a:r>
            <a:r>
              <a:rPr sz="1600" spc="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Densidade: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Mínimo</a:t>
            </a:r>
            <a:r>
              <a:rPr sz="16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1,200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g/cm3;</a:t>
            </a:r>
            <a:r>
              <a:rPr sz="1600" spc="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pH</a:t>
            </a:r>
            <a:r>
              <a:rPr sz="16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em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solução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5%:</a:t>
            </a:r>
            <a:r>
              <a:rPr sz="16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9,0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2E2B1F"/>
                </a:solidFill>
                <a:latin typeface="Calibri"/>
                <a:cs typeface="Calibri"/>
              </a:rPr>
              <a:t>–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12,0.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5940" y="309448"/>
            <a:ext cx="1977389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Produto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5681FE5-7607-3A06-DD13-F3DC80D5B4E3}"/>
              </a:ext>
            </a:extLst>
          </p:cNvPr>
          <p:cNvSpPr txBox="1"/>
          <p:nvPr/>
        </p:nvSpPr>
        <p:spPr>
          <a:xfrm rot="10800000" flipV="1">
            <a:off x="304800" y="3830087"/>
            <a:ext cx="77698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Após o início da gestão em 11/08/2025, os dados coletados apresentaram-se dentro dos parâmetros esperados, indicando estabilidade nos indicadores operacionais e aderência aos padrões previamente estabelecidos.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Conforme estabelecido no plano de manutenção preventiva, todas as inspeções e análises operacionais são executadas diariamente durante as visitas técnicas. Essa prática permite um acompanhamento sistemático dos parâmetros críticos dos equipamentos, garantindo maior precisão na detecção de falhas potenciais e contribuindo diretamente para a confiabilidade e disponibilidade dos ativos</a:t>
            </a:r>
            <a:r>
              <a:rPr lang="pt-BR" sz="1200" dirty="0"/>
              <a:t>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702095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sz="4000" dirty="0"/>
              <a:t>Calibração de equipamento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971875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7213F59-5D42-307C-FBBF-E4BBB96AA6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11396" y="3384790"/>
            <a:ext cx="3710363" cy="278277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7771A0A-160C-A408-3D59-FAACAFDBC8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135432" y="3384791"/>
            <a:ext cx="3710363" cy="278277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71788B6-89E5-ECD8-2A03-8767870C8A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82" b="41327"/>
          <a:stretch/>
        </p:blipFill>
        <p:spPr>
          <a:xfrm rot="5400000">
            <a:off x="2416251" y="3581109"/>
            <a:ext cx="3701898" cy="23986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8276A7A-85E2-183E-3F14-C12ECF8DC392}"/>
              </a:ext>
            </a:extLst>
          </p:cNvPr>
          <p:cNvSpPr txBox="1"/>
          <p:nvPr/>
        </p:nvSpPr>
        <p:spPr>
          <a:xfrm>
            <a:off x="533400" y="1600200"/>
            <a:ext cx="746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Cada visita realizamos a aferição do equipamento leitor de parâmetros a fim de garantir uma leitura precisa e de alta confiabilidade. A calibração do mesmo ocorre quando identificado diferença igual ou superior a 0,10ppm comparado ao leitor manual conforme exemplificado nas imagens abaixo.</a:t>
            </a:r>
          </a:p>
        </p:txBody>
      </p:sp>
    </p:spTree>
    <p:extLst>
      <p:ext uri="{BB962C8B-B14F-4D97-AF65-F5344CB8AC3E}">
        <p14:creationId xmlns:p14="http://schemas.microsoft.com/office/powerpoint/2010/main" val="304815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06/07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62D9BCC-77B3-AEC4-9A58-2E37B0A92E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4000" y="2128450"/>
            <a:ext cx="5280000" cy="396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EFF5621-AF38-1597-E58F-80746EE3ED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128450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70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07/07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7BE43F0-3C79-C1BB-AEF0-4CF1FD71E3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061252"/>
            <a:ext cx="5279999" cy="3960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C1FFE894-7EF5-4820-25B5-143F6D0CD1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54000" y="2061253"/>
            <a:ext cx="5279999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6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08/07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5E9A7A91-41D1-CCBF-A2DF-F069BC107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409702" y="2107800"/>
            <a:ext cx="5280000" cy="39600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C2124AD3-D493-3060-FFCB-AACD14C205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82955" y="2107799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21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09/07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9AD8C229-6FB5-3654-BF25-2897B5D618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431400" y="2103445"/>
            <a:ext cx="5280000" cy="39600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F9AAC777-B8C9-B29D-E2CB-4773C9EE11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07200" y="2103445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48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10/07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2B6755E6-3F5B-E0B6-61E0-1C8A6DC941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061252"/>
            <a:ext cx="5280000" cy="396000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6FDFFCEF-0007-A6A2-AFF0-566E6B000B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061251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04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15/07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0FC90154-824A-F968-BF04-FC3CA9B69E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090903"/>
            <a:ext cx="5280000" cy="3960000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1183BC71-A49D-5AEA-A2E4-D8C576E209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090902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64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16/07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D2564C7-2529-3281-D298-BC6A64B347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107800"/>
            <a:ext cx="5280000" cy="3960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C20BD6F-1F40-C2FD-CE60-3E46741B3C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110378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45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17/07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87EC53F4-FD7C-D77B-81B7-E13EC8BF6F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107800"/>
            <a:ext cx="5280000" cy="3960000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7120AC36-2FC1-4954-5E97-D544D7E4D4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107799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67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20/07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60" name="Imagem 59">
            <a:extLst>
              <a:ext uri="{FF2B5EF4-FFF2-40B4-BE49-F238E27FC236}">
                <a16:creationId xmlns:a16="http://schemas.microsoft.com/office/drawing/2014/main" id="{BB4D643D-CAAA-A008-6E5B-2F857E6F14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146819"/>
            <a:ext cx="5280000" cy="3960000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42767F05-018E-5484-5973-A2B2D50A6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146819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92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21/07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66" name="Imagem 65">
            <a:extLst>
              <a:ext uri="{FF2B5EF4-FFF2-40B4-BE49-F238E27FC236}">
                <a16:creationId xmlns:a16="http://schemas.microsoft.com/office/drawing/2014/main" id="{4EDB3E2B-99A2-C8F9-B54B-2FAEC8CEA2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107800"/>
            <a:ext cx="5280000" cy="3960000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7DFFD665-B5EB-62A9-3123-D49FC1B2A3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107800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675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23/07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0" name="Imagem 69">
            <a:extLst>
              <a:ext uri="{FF2B5EF4-FFF2-40B4-BE49-F238E27FC236}">
                <a16:creationId xmlns:a16="http://schemas.microsoft.com/office/drawing/2014/main" id="{16EFA75B-1DEA-686D-7C75-573035D754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141068"/>
            <a:ext cx="5280000" cy="3960000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5738000A-F24E-C74D-4203-577A2394A7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141068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004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24/07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6" name="Imagem 75">
            <a:extLst>
              <a:ext uri="{FF2B5EF4-FFF2-40B4-BE49-F238E27FC236}">
                <a16:creationId xmlns:a16="http://schemas.microsoft.com/office/drawing/2014/main" id="{12F0B63A-5A22-9551-A253-C68B81AB9E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122956"/>
            <a:ext cx="5280000" cy="3960000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F53BCEB8-8309-FB37-E92B-CF03E7C099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122955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15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27/07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86" name="Imagem 85">
            <a:extLst>
              <a:ext uri="{FF2B5EF4-FFF2-40B4-BE49-F238E27FC236}">
                <a16:creationId xmlns:a16="http://schemas.microsoft.com/office/drawing/2014/main" id="{1AEA9205-CC2F-D837-915E-491F3B08A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107973"/>
            <a:ext cx="5280000" cy="3960000"/>
          </a:xfrm>
          <a:prstGeom prst="rect">
            <a:avLst/>
          </a:prstGeom>
        </p:spPr>
      </p:pic>
      <p:pic>
        <p:nvPicPr>
          <p:cNvPr id="88" name="Imagem 87">
            <a:extLst>
              <a:ext uri="{FF2B5EF4-FFF2-40B4-BE49-F238E27FC236}">
                <a16:creationId xmlns:a16="http://schemas.microsoft.com/office/drawing/2014/main" id="{854E058C-442C-61AD-88FB-D72A5FCC25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107973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57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29/07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4" name="Imagem 93">
            <a:extLst>
              <a:ext uri="{FF2B5EF4-FFF2-40B4-BE49-F238E27FC236}">
                <a16:creationId xmlns:a16="http://schemas.microsoft.com/office/drawing/2014/main" id="{807B2BFD-1A37-747E-66A1-429F874984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476" y="2662877"/>
            <a:ext cx="4169847" cy="3960000"/>
          </a:xfrm>
          <a:prstGeom prst="rect">
            <a:avLst/>
          </a:prstGeom>
        </p:spPr>
      </p:pic>
      <p:pic>
        <p:nvPicPr>
          <p:cNvPr id="96" name="Imagem 95">
            <a:extLst>
              <a:ext uri="{FF2B5EF4-FFF2-40B4-BE49-F238E27FC236}">
                <a16:creationId xmlns:a16="http://schemas.microsoft.com/office/drawing/2014/main" id="{A8DF16AD-85B6-45C6-0ED7-5026C1342A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86077" y="2662878"/>
            <a:ext cx="4169846" cy="3960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38F2655-719D-9FA9-D2B1-6264A52A8514}"/>
              </a:ext>
            </a:extLst>
          </p:cNvPr>
          <p:cNvSpPr txBox="1"/>
          <p:nvPr/>
        </p:nvSpPr>
        <p:spPr>
          <a:xfrm>
            <a:off x="457200" y="1480735"/>
            <a:ext cx="701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Identificado queda no valor de pH abaixo do valor mínimo recomendado.</a:t>
            </a:r>
          </a:p>
          <a:p>
            <a:r>
              <a:rPr lang="pt-BR" sz="1600" dirty="0"/>
              <a:t>Causa: Entrada de ar na bomba dosadora</a:t>
            </a:r>
          </a:p>
          <a:p>
            <a:pPr algn="l"/>
            <a:r>
              <a:rPr lang="pt-BR" sz="1600" dirty="0"/>
              <a:t>Ação realizada: Manutenção da bomba e correção realizada automaticamente pelo equipamento.</a:t>
            </a:r>
          </a:p>
        </p:txBody>
      </p:sp>
    </p:spTree>
    <p:extLst>
      <p:ext uri="{BB962C8B-B14F-4D97-AF65-F5344CB8AC3E}">
        <p14:creationId xmlns:p14="http://schemas.microsoft.com/office/powerpoint/2010/main" val="1135849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30/07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42D0061-DEA4-B6E5-0010-EE1597681E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07292" y="2545691"/>
            <a:ext cx="4479383" cy="3960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BF9691E-C500-0551-9D0E-EB5D7A7ADF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39774" y="2537224"/>
            <a:ext cx="4462451" cy="3960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CA8A979-21F2-C5D3-E888-D5A302A71839}"/>
              </a:ext>
            </a:extLst>
          </p:cNvPr>
          <p:cNvSpPr txBox="1"/>
          <p:nvPr/>
        </p:nvSpPr>
        <p:spPr>
          <a:xfrm>
            <a:off x="311183" y="1392785"/>
            <a:ext cx="746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Devido o desvio no dia anterior o equipamento ainda estava realizando a correção de pH, que não foi mais rápida devido o baixo consumo de água no período.</a:t>
            </a:r>
          </a:p>
        </p:txBody>
      </p:sp>
    </p:spTree>
    <p:extLst>
      <p:ext uri="{BB962C8B-B14F-4D97-AF65-F5344CB8AC3E}">
        <p14:creationId xmlns:p14="http://schemas.microsoft.com/office/powerpoint/2010/main" val="1438891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31/07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08" name="Imagem 107">
            <a:extLst>
              <a:ext uri="{FF2B5EF4-FFF2-40B4-BE49-F238E27FC236}">
                <a16:creationId xmlns:a16="http://schemas.microsoft.com/office/drawing/2014/main" id="{701FC639-921A-3276-F265-2A6CE96320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31000" y="2107799"/>
            <a:ext cx="5280000" cy="3960000"/>
          </a:xfrm>
          <a:prstGeom prst="rect">
            <a:avLst/>
          </a:prstGeom>
        </p:spPr>
      </p:pic>
      <p:pic>
        <p:nvPicPr>
          <p:cNvPr id="104" name="Imagem 103">
            <a:extLst>
              <a:ext uri="{FF2B5EF4-FFF2-40B4-BE49-F238E27FC236}">
                <a16:creationId xmlns:a16="http://schemas.microsoft.com/office/drawing/2014/main" id="{1C49A7AF-4B61-5051-91D6-65F1D353FF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07600" y="2107800"/>
            <a:ext cx="528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70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Visita não realizada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dirty="0">
                <a:solidFill>
                  <a:srgbClr val="2E2B1F"/>
                </a:solidFill>
                <a:latin typeface="Arial"/>
                <a:cs typeface="Arial"/>
              </a:rPr>
              <a:t>Data e descrição de justificativas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CE9D4E9-F085-39FB-B6BC-646784657ABF}"/>
              </a:ext>
            </a:extLst>
          </p:cNvPr>
          <p:cNvSpPr txBox="1"/>
          <p:nvPr/>
        </p:nvSpPr>
        <p:spPr>
          <a:xfrm>
            <a:off x="381000" y="1600200"/>
            <a:ext cx="7620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01/07 – Ocorrência TMB</a:t>
            </a:r>
          </a:p>
          <a:p>
            <a:pPr algn="just"/>
            <a:r>
              <a:rPr lang="pt-BR" sz="1600" dirty="0"/>
              <a:t>02/07 – Feriado (Independência da Bahia)</a:t>
            </a:r>
          </a:p>
          <a:p>
            <a:pPr algn="just"/>
            <a:r>
              <a:rPr lang="pt-BR" sz="1600" dirty="0"/>
              <a:t>03/07 – Ponte Veracel (confecção de relatórios)</a:t>
            </a:r>
          </a:p>
          <a:p>
            <a:pPr algn="just"/>
            <a:r>
              <a:rPr lang="pt-BR" sz="1600" dirty="0"/>
              <a:t>13/07 – Recebimento de equipamentos TMB</a:t>
            </a:r>
          </a:p>
          <a:p>
            <a:pPr algn="just"/>
            <a:r>
              <a:rPr lang="pt-BR" sz="1600" dirty="0"/>
              <a:t>14/07 – Emergência pessoal</a:t>
            </a:r>
          </a:p>
          <a:p>
            <a:pPr algn="just"/>
            <a:r>
              <a:rPr lang="pt-BR" sz="1600" dirty="0"/>
              <a:t>22/07 – Visita </a:t>
            </a:r>
            <a:r>
              <a:rPr lang="pt-BR" sz="1600" dirty="0" err="1"/>
              <a:t>Nucleo</a:t>
            </a:r>
            <a:r>
              <a:rPr lang="pt-BR" sz="1600" dirty="0"/>
              <a:t> Florestal e manutenção sede </a:t>
            </a:r>
            <a:r>
              <a:rPr lang="pt-BR" sz="1600" dirty="0" err="1"/>
              <a:t>Biogreen</a:t>
            </a:r>
            <a:endParaRPr lang="pt-BR" sz="1600" dirty="0"/>
          </a:p>
          <a:p>
            <a:pPr algn="just"/>
            <a:r>
              <a:rPr lang="pt-BR" sz="1600" dirty="0"/>
              <a:t>28/07 – Coleta de químicos Fabrica Veracel</a:t>
            </a:r>
          </a:p>
        </p:txBody>
      </p:sp>
    </p:spTree>
    <p:extLst>
      <p:ext uri="{BB962C8B-B14F-4D97-AF65-F5344CB8AC3E}">
        <p14:creationId xmlns:p14="http://schemas.microsoft.com/office/powerpoint/2010/main" val="3938764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2200" y="33226"/>
            <a:ext cx="2058303" cy="8792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304800" y="76200"/>
            <a:ext cx="4876800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Dados</a:t>
            </a:r>
            <a:r>
              <a:rPr spc="-180" dirty="0"/>
              <a:t> </a:t>
            </a:r>
            <a:r>
              <a:rPr spc="-55" dirty="0"/>
              <a:t>do</a:t>
            </a:r>
            <a:r>
              <a:rPr spc="-175" dirty="0"/>
              <a:t> </a:t>
            </a:r>
            <a:r>
              <a:rPr spc="-90" dirty="0"/>
              <a:t>processo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600" y="796270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Dados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0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residuais</a:t>
            </a:r>
            <a:r>
              <a:rPr sz="1800" spc="-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25" dirty="0">
                <a:solidFill>
                  <a:srgbClr val="2E2B1F"/>
                </a:solidFill>
                <a:latin typeface="Arial"/>
                <a:cs typeface="Arial"/>
              </a:rPr>
              <a:t>C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loro</a:t>
            </a: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,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P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h,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T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urbidez, na </a:t>
            </a:r>
            <a:r>
              <a:rPr lang="pt-BR" b="1" spc="-15" dirty="0" err="1">
                <a:solidFill>
                  <a:srgbClr val="2E2B1F"/>
                </a:solidFill>
                <a:latin typeface="Arial"/>
                <a:cs typeface="Arial"/>
              </a:rPr>
              <a:t>E</a:t>
            </a:r>
            <a:r>
              <a:rPr lang="pt-BR" sz="1800" b="1" spc="-15" dirty="0" err="1">
                <a:solidFill>
                  <a:srgbClr val="2E2B1F"/>
                </a:solidFill>
                <a:latin typeface="Arial"/>
                <a:cs typeface="Arial"/>
              </a:rPr>
              <a:t>ta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 E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stação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0014CB-3A2C-74F7-262D-EB0C09F25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171453"/>
            <a:ext cx="4174200" cy="27828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F5A29DC-E4B2-876B-E3BC-53C3007487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400" y="1171453"/>
            <a:ext cx="4174200" cy="27828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3F60CAD-02DD-897B-BC63-61013BB80B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982706"/>
            <a:ext cx="4174200" cy="2782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90A9D550-AAB6-05AE-8E7D-FEEEAE1E588F}"/>
              </a:ext>
            </a:extLst>
          </p:cNvPr>
          <p:cNvSpPr txBox="1">
            <a:spLocks/>
          </p:cNvSpPr>
          <p:nvPr/>
        </p:nvSpPr>
        <p:spPr>
          <a:xfrm>
            <a:off x="304800" y="76200"/>
            <a:ext cx="4876800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spc="-95" dirty="0"/>
              <a:t>Dados</a:t>
            </a:r>
            <a:r>
              <a:rPr lang="pt-BR" spc="-180" dirty="0"/>
              <a:t> </a:t>
            </a:r>
            <a:r>
              <a:rPr lang="pt-BR" spc="-55" dirty="0"/>
              <a:t>do</a:t>
            </a:r>
            <a:r>
              <a:rPr lang="pt-BR" spc="-175" dirty="0"/>
              <a:t> </a:t>
            </a:r>
            <a:r>
              <a:rPr lang="pt-BR" spc="-90" dirty="0"/>
              <a:t>processo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F9899C-842C-B619-C0AC-F013ED30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62133"/>
            <a:ext cx="2054530" cy="883997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D199A125-59D8-C2DB-5C31-1827CD4A4153}"/>
              </a:ext>
            </a:extLst>
          </p:cNvPr>
          <p:cNvSpPr txBox="1"/>
          <p:nvPr/>
        </p:nvSpPr>
        <p:spPr>
          <a:xfrm>
            <a:off x="228600" y="796270"/>
            <a:ext cx="647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Dados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0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residuais</a:t>
            </a:r>
            <a:r>
              <a:rPr sz="1800" spc="-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25" dirty="0">
                <a:solidFill>
                  <a:srgbClr val="2E2B1F"/>
                </a:solidFill>
                <a:latin typeface="Arial"/>
                <a:cs typeface="Arial"/>
              </a:rPr>
              <a:t>C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loro</a:t>
            </a: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,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P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h,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T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urbidez</a:t>
            </a:r>
            <a:r>
              <a:rPr lang="pt-BR" sz="1800" b="1" spc="-15" dirty="0">
                <a:solidFill>
                  <a:srgbClr val="2E2B1F"/>
                </a:solidFill>
                <a:latin typeface="Arial"/>
                <a:cs typeface="Arial"/>
              </a:rPr>
              <a:t>, </a:t>
            </a:r>
            <a:r>
              <a:rPr lang="pt-BR" b="1" spc="-15" dirty="0">
                <a:solidFill>
                  <a:srgbClr val="2E2B1F"/>
                </a:solidFill>
                <a:latin typeface="Arial"/>
                <a:cs typeface="Arial"/>
              </a:rPr>
              <a:t>Refeitório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Estação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4EF4E75-EA8F-092F-B36B-96CBE9DF5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185013"/>
            <a:ext cx="4174200" cy="27828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C8E2262-2C38-B8C0-AF3B-0BDF5F4C9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333" y="1190739"/>
            <a:ext cx="4174200" cy="27828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4F8A925-6D61-5936-269A-0A2DC8D73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999000"/>
            <a:ext cx="4174200" cy="27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65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06BE0-A0B2-85FA-D824-41A50284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09550"/>
            <a:ext cx="5257800" cy="1415772"/>
          </a:xfrm>
        </p:spPr>
        <p:txBody>
          <a:bodyPr/>
          <a:lstStyle/>
          <a:p>
            <a:r>
              <a:rPr lang="pt-BR" dirty="0"/>
              <a:t>VISITA ESTAÇÃO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F7B08E1-9688-26EF-F33A-ECB791AB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76200"/>
            <a:ext cx="2054530" cy="883997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491391EC-DFA0-1F57-395F-33AE8A0AF2BD}"/>
              </a:ext>
            </a:extLst>
          </p:cNvPr>
          <p:cNvSpPr txBox="1"/>
          <p:nvPr/>
        </p:nvSpPr>
        <p:spPr>
          <a:xfrm>
            <a:off x="228600" y="796270"/>
            <a:ext cx="647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" dirty="0" err="1">
                <a:solidFill>
                  <a:srgbClr val="2E2B1F"/>
                </a:solidFill>
                <a:latin typeface="Arial"/>
                <a:cs typeface="Arial"/>
              </a:rPr>
              <a:t>Biogreen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 plano de atuação na Estação Veracel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BBBD11-771D-F45D-FF2C-6D4D39C499DC}"/>
              </a:ext>
            </a:extLst>
          </p:cNvPr>
          <p:cNvSpPr txBox="1"/>
          <p:nvPr/>
        </p:nvSpPr>
        <p:spPr>
          <a:xfrm>
            <a:off x="228600" y="1525322"/>
            <a:ext cx="807433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A equipe Biogreen' tem realizado visitas técnicas diárias à Estação Veracel, com foco no plano de controle da água potável da unidade.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Durante essas visitas, estamos monitorando os seguintes parâmetros: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Cloro residual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pH da água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Turbidez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Consumo via hidrômetro</a:t>
            </a:r>
          </a:p>
          <a:p>
            <a:pPr algn="just"/>
            <a:endParaRPr lang="pt-BR" sz="1600" dirty="0"/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Além do monitoramento, foram executadas as seguintes ações corretivas e preventivas: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Troca de válvulas de retenção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Limpeza dos bicos da bomba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Limpeza da sala de aplicação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Todos os dados e ações estão sendo registrados e acompanhados através de uma planilha de controle específica, garantindo rastreabilidade e conformidade com os padrões de qualidade exigidos.</a:t>
            </a:r>
          </a:p>
        </p:txBody>
      </p:sp>
    </p:spTree>
    <p:extLst>
      <p:ext uri="{BB962C8B-B14F-4D97-AF65-F5344CB8AC3E}">
        <p14:creationId xmlns:p14="http://schemas.microsoft.com/office/powerpoint/2010/main" val="2304011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9B3BF-F508-2FF3-21BB-66A20A8A7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50" y="0"/>
            <a:ext cx="4143960" cy="1077218"/>
          </a:xfrm>
        </p:spPr>
        <p:txBody>
          <a:bodyPr/>
          <a:lstStyle/>
          <a:p>
            <a:r>
              <a:rPr lang="pt-BR" dirty="0"/>
              <a:t>Conclusão</a:t>
            </a:r>
            <a:br>
              <a:rPr lang="pt-BR" dirty="0"/>
            </a:br>
            <a:r>
              <a:rPr lang="pt-BR" sz="2400" dirty="0"/>
              <a:t>Controle de Qualidade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DE04E1-39C7-F0CC-49F4-1B6EB9151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0" y="1349524"/>
            <a:ext cx="3338778" cy="4924425"/>
          </a:xfrm>
        </p:spPr>
        <p:txBody>
          <a:bodyPr/>
          <a:lstStyle/>
          <a:p>
            <a:r>
              <a:rPr lang="pt-BR" sz="1600" dirty="0"/>
              <a:t>O Biohipo 33 , fornecido pela Biogreen’ para a unidade Veracel, passa por um rigoroso controle de qualidade. São realizados diversos testes em laboratório, acompanhados pela equipe de controle de qualidade da Biogreen', sob a supervisão da líder, a senhora Caroline Larissa. Esses testes são realizados no laboratório central da Biogreen', localizado em Suzano, São Paulo. </a:t>
            </a:r>
          </a:p>
          <a:p>
            <a:r>
              <a:rPr lang="pt-BR" sz="1600" dirty="0"/>
              <a:t>Com isso, nossos resultados com o  Biohipo 33 aplicado na ETA na unidade Veracel tem demostrado bons resultados. </a:t>
            </a:r>
          </a:p>
          <a:p>
            <a:r>
              <a:rPr lang="pt-BR" sz="1600" dirty="0"/>
              <a:t>Agradecemos pela oportunidade de colaborar no desenvolvimento desse projeto de controle de tratamento de agua potável  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D8BCABD8-92D7-62EE-6015-6EEB3DA325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9485" y="125835"/>
            <a:ext cx="2210703" cy="1105417"/>
          </a:xfrm>
          <a:prstGeom prst="rect">
            <a:avLst/>
          </a:prstGeom>
        </p:spPr>
      </p:pic>
      <p:pic>
        <p:nvPicPr>
          <p:cNvPr id="6" name="Imagem 5" descr="Uma imagem contendo quarto de hospital, homem, mesa, óculos&#10;&#10;O conteúdo gerado por IA pode estar incorreto.">
            <a:extLst>
              <a:ext uri="{FF2B5EF4-FFF2-40B4-BE49-F238E27FC236}">
                <a16:creationId xmlns:a16="http://schemas.microsoft.com/office/drawing/2014/main" id="{D69DECDA-2A0D-3BE6-FD24-61990A24E9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1" y="1349524"/>
            <a:ext cx="4068660" cy="2758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 descr="Garrafa de vidro&#10;&#10;O conteúdo gerado por IA pode estar incorreto.">
            <a:extLst>
              <a:ext uri="{FF2B5EF4-FFF2-40B4-BE49-F238E27FC236}">
                <a16:creationId xmlns:a16="http://schemas.microsoft.com/office/drawing/2014/main" id="{C3B84347-B026-D894-4B5F-2038461897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0" y="4291303"/>
            <a:ext cx="4068660" cy="21908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35521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86782" y="2667254"/>
            <a:ext cx="11557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20"/>
              </a:lnSpc>
            </a:pPr>
            <a:r>
              <a:rPr sz="3600" spc="-60" dirty="0">
                <a:solidFill>
                  <a:srgbClr val="EBEBEB"/>
                </a:solidFill>
                <a:latin typeface="Calibri"/>
                <a:cs typeface="Calibri"/>
              </a:rPr>
              <a:t>.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2"/>
            <a:ext cx="9144000" cy="68460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26333" y="2573477"/>
            <a:ext cx="2531110" cy="1068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570230" marR="5080" indent="-558165">
              <a:lnSpc>
                <a:spcPts val="3890"/>
              </a:lnSpc>
              <a:spcBef>
                <a:spcPts val="590"/>
              </a:spcBef>
            </a:pPr>
            <a:r>
              <a:rPr sz="3600" b="1" i="1" dirty="0">
                <a:latin typeface="Calibri"/>
                <a:cs typeface="Calibri"/>
              </a:rPr>
              <a:t>Merci</a:t>
            </a:r>
            <a:r>
              <a:rPr sz="3600" b="1" i="1" spc="-25" dirty="0">
                <a:latin typeface="Calibri"/>
                <a:cs typeface="Calibri"/>
              </a:rPr>
              <a:t> </a:t>
            </a:r>
            <a:r>
              <a:rPr sz="3600" b="1" i="1" spc="-10" dirty="0">
                <a:latin typeface="Calibri"/>
                <a:cs typeface="Calibri"/>
              </a:rPr>
              <a:t>d'avoir écouté.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1321" y="4055186"/>
            <a:ext cx="19602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spc="-10" dirty="0">
                <a:latin typeface="Calibri"/>
                <a:cs typeface="Calibri"/>
              </a:rPr>
              <a:t>Obrigado!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7179" y="580390"/>
            <a:ext cx="7712075" cy="5995035"/>
            <a:chOff x="697179" y="580390"/>
            <a:chExt cx="7712075" cy="59950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599" y="580410"/>
              <a:ext cx="2820050" cy="14101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9289" y="6155639"/>
              <a:ext cx="628929" cy="4192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9563" y="6181458"/>
              <a:ext cx="818070" cy="3272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8251" y="6181458"/>
              <a:ext cx="375894" cy="3515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55060" y="6155652"/>
              <a:ext cx="628929" cy="3773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63368" y="6157760"/>
              <a:ext cx="856970" cy="3237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3964" y="580390"/>
              <a:ext cx="4124705" cy="14102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27951" y="6157772"/>
              <a:ext cx="787615" cy="31348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74140" y="6230391"/>
              <a:ext cx="1038860" cy="15962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7179" y="6237312"/>
              <a:ext cx="459854" cy="1806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4873</TotalTime>
  <Words>931</Words>
  <Application>Microsoft Office PowerPoint</Application>
  <PresentationFormat>Apresentação na tela (4:3)</PresentationFormat>
  <Paragraphs>133</Paragraphs>
  <Slides>27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Aptos</vt:lpstr>
      <vt:lpstr>Arial</vt:lpstr>
      <vt:lpstr>Calibri</vt:lpstr>
      <vt:lpstr>Cambria</vt:lpstr>
      <vt:lpstr>Times New Roman</vt:lpstr>
      <vt:lpstr>Wingdings</vt:lpstr>
      <vt:lpstr>Office Theme</vt:lpstr>
      <vt:lpstr>        RELATÓRIO ACOMPANHAMENTO ESTAÇÃO HIPOCLORITO – JUL/2026</vt:lpstr>
      <vt:lpstr>Posição Global</vt:lpstr>
      <vt:lpstr>Soluções</vt:lpstr>
      <vt:lpstr>Produto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Dados do processo</vt:lpstr>
      <vt:lpstr>Apresentação do PowerPoint</vt:lpstr>
      <vt:lpstr>VISITA ESTAÇÃO</vt:lpstr>
      <vt:lpstr>Conclusão Controle de Qualidade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Biofort G25 - Scott Bond AAA 180 g</dc:title>
  <dc:creator>Renato</dc:creator>
  <cp:lastModifiedBy>User</cp:lastModifiedBy>
  <cp:revision>32</cp:revision>
  <dcterms:created xsi:type="dcterms:W3CDTF">2024-12-26T15:41:27Z</dcterms:created>
  <dcterms:modified xsi:type="dcterms:W3CDTF">2026-08-10T17:31:42Z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2024-12-06T00:00:00Z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2024-12-26T00:00:00Z</vt:filetime>
  </property>
  <property fmtid="{D5CDD505-2E9C-101B-9397-08002B2CF9AE}" pid="5" name="Producer">
    <vt:lpwstr>Microsoft® PowerPoint® para Microsoft 365</vt:lpwstr>
  </property>
</Properties>
</file>